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notesMasterIdLst>
    <p:notesMasterId r:id="rId23"/>
  </p:notesMasterIdLst>
  <p:sldIdLst>
    <p:sldId id="256" r:id="rId3"/>
    <p:sldId id="490" r:id="rId4"/>
    <p:sldId id="699" r:id="rId5"/>
    <p:sldId id="700" r:id="rId6"/>
    <p:sldId id="714" r:id="rId7"/>
    <p:sldId id="713" r:id="rId8"/>
    <p:sldId id="715" r:id="rId9"/>
    <p:sldId id="701" r:id="rId10"/>
    <p:sldId id="703" r:id="rId11"/>
    <p:sldId id="716" r:id="rId12"/>
    <p:sldId id="717" r:id="rId13"/>
    <p:sldId id="726" r:id="rId14"/>
    <p:sldId id="727" r:id="rId15"/>
    <p:sldId id="728" r:id="rId16"/>
    <p:sldId id="692" r:id="rId17"/>
    <p:sldId id="693" r:id="rId18"/>
    <p:sldId id="694" r:id="rId19"/>
    <p:sldId id="732" r:id="rId20"/>
    <p:sldId id="730" r:id="rId21"/>
    <p:sldId id="73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#1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00AFC-574B-49BC-987D-22932097EE1B}" type="doc">
      <dgm:prSet loTypeId="urn:microsoft.com/office/officeart/2005/8/layout/vList2" loCatId="list" qsTypeId="urn:microsoft.com/office/officeart/2005/8/quickstyle/simple1#1" qsCatId="simple" csTypeId="urn:microsoft.com/office/officeart/2005/8/colors/accent1_4#1" csCatId="accent1" phldr="1"/>
      <dgm:spPr/>
      <dgm:t>
        <a:bodyPr/>
        <a:lstStyle/>
        <a:p>
          <a:endParaRPr lang="en-US"/>
        </a:p>
      </dgm:t>
    </dgm:pt>
    <dgm:pt modelId="{263AA371-D1B6-4545-94C9-E66F8E73FB45}">
      <dgm:prSet custT="1"/>
      <dgm:spPr/>
      <dgm:t>
        <a:bodyPr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Logistic Regression</a:t>
          </a:r>
        </a:p>
      </dgm:t>
    </dgm:pt>
    <dgm:pt modelId="{0BD4210B-14AC-4FA5-B90F-13CB3CDAEEE1}" type="parTrans" cxnId="{FCC392A2-9E72-42DA-92EB-7E12E7B768F9}">
      <dgm:prSet/>
      <dgm:spPr/>
      <dgm:t>
        <a:bodyPr/>
        <a:lstStyle/>
        <a:p>
          <a:endParaRPr lang="en-US"/>
        </a:p>
      </dgm:t>
    </dgm:pt>
    <dgm:pt modelId="{BFDEE781-D702-42AB-9F77-11027A025EA3}" type="sibTrans" cxnId="{FCC392A2-9E72-42DA-92EB-7E12E7B768F9}">
      <dgm:prSet/>
      <dgm:spPr/>
      <dgm:t>
        <a:bodyPr/>
        <a:lstStyle/>
        <a:p>
          <a:endParaRPr lang="en-US"/>
        </a:p>
      </dgm:t>
    </dgm:pt>
    <dgm:pt modelId="{7F94E5E8-07A5-46D2-A414-A95AC18A311A}">
      <dgm:prSet/>
      <dgm:spPr/>
      <dgm:t>
        <a:bodyPr/>
        <a:lstStyle/>
        <a:p>
          <a:pPr rtl="0"/>
          <a:endParaRPr lang="en-US" dirty="0"/>
        </a:p>
      </dgm:t>
    </dgm:pt>
    <dgm:pt modelId="{A3E2C6C4-646B-4929-BC14-AF78BC71DD68}" type="parTrans" cxnId="{B72CEE15-BC55-4F35-9DF7-82AA7258B492}">
      <dgm:prSet/>
      <dgm:spPr/>
      <dgm:t>
        <a:bodyPr/>
        <a:lstStyle/>
        <a:p>
          <a:endParaRPr lang="en-US"/>
        </a:p>
      </dgm:t>
    </dgm:pt>
    <dgm:pt modelId="{FD7522E6-51A2-4FE6-90CC-CE308E09E9B5}" type="sibTrans" cxnId="{B72CEE15-BC55-4F35-9DF7-82AA7258B492}">
      <dgm:prSet/>
      <dgm:spPr/>
      <dgm:t>
        <a:bodyPr/>
        <a:lstStyle/>
        <a:p>
          <a:endParaRPr lang="en-US"/>
        </a:p>
      </dgm:t>
    </dgm:pt>
    <dgm:pt modelId="{0AD0243A-FE42-48A6-834B-FAC5A9AB903A}">
      <dgm:prSet custT="1"/>
      <dgm:spPr/>
      <dgm:t>
        <a:bodyPr/>
        <a:lstStyle/>
        <a:p>
          <a:pPr rtl="0"/>
          <a:r>
            <a:rPr lang="en-US" sz="3600" dirty="0"/>
            <a:t>Polynomial Regression</a:t>
          </a:r>
        </a:p>
      </dgm:t>
    </dgm:pt>
    <dgm:pt modelId="{D9135E3A-CEF6-4BBD-8DFD-4ABB2A9DAAA7}" type="parTrans" cxnId="{83B3C79B-50F5-4DC4-ABB5-74AFBF4DC9AD}">
      <dgm:prSet/>
      <dgm:spPr/>
      <dgm:t>
        <a:bodyPr/>
        <a:lstStyle/>
        <a:p>
          <a:endParaRPr lang="en-US"/>
        </a:p>
      </dgm:t>
    </dgm:pt>
    <dgm:pt modelId="{B560187F-43D9-4949-ACFC-43FCB5DA61DD}" type="sibTrans" cxnId="{83B3C79B-50F5-4DC4-ABB5-74AFBF4DC9AD}">
      <dgm:prSet/>
      <dgm:spPr/>
      <dgm:t>
        <a:bodyPr/>
        <a:lstStyle/>
        <a:p>
          <a:endParaRPr lang="en-US"/>
        </a:p>
      </dgm:t>
    </dgm:pt>
    <dgm:pt modelId="{51305580-5B81-40ED-8CB3-C370BA06492A}" type="pres">
      <dgm:prSet presAssocID="{44700AFC-574B-49BC-987D-22932097EE1B}" presName="linear" presStyleCnt="0">
        <dgm:presLayoutVars>
          <dgm:animLvl val="lvl"/>
          <dgm:resizeHandles val="exact"/>
        </dgm:presLayoutVars>
      </dgm:prSet>
      <dgm:spPr/>
    </dgm:pt>
    <dgm:pt modelId="{B247C9D2-294B-498B-ADB0-EE89ABA2E77B}" type="pres">
      <dgm:prSet presAssocID="{263AA371-D1B6-4545-94C9-E66F8E73FB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16E940E-D450-4C38-8331-070E649AFA26}" type="pres">
      <dgm:prSet presAssocID="{263AA371-D1B6-4545-94C9-E66F8E73FB45}" presName="childText" presStyleLbl="revTx" presStyleIdx="0" presStyleCnt="1">
        <dgm:presLayoutVars>
          <dgm:bulletEnabled val="1"/>
        </dgm:presLayoutVars>
      </dgm:prSet>
      <dgm:spPr/>
    </dgm:pt>
    <dgm:pt modelId="{CE02C4C2-100F-4069-ACFD-ABFE7B60CCAB}" type="pres">
      <dgm:prSet presAssocID="{0AD0243A-FE42-48A6-834B-FAC5A9AB903A}" presName="parentText" presStyleLbl="node1" presStyleIdx="1" presStyleCnt="2" custLinFactNeighborX="0" custLinFactNeighborY="-97615">
        <dgm:presLayoutVars>
          <dgm:chMax val="0"/>
          <dgm:bulletEnabled val="1"/>
        </dgm:presLayoutVars>
      </dgm:prSet>
      <dgm:spPr/>
    </dgm:pt>
  </dgm:ptLst>
  <dgm:cxnLst>
    <dgm:cxn modelId="{B72CEE15-BC55-4F35-9DF7-82AA7258B492}" srcId="{263AA371-D1B6-4545-94C9-E66F8E73FB45}" destId="{7F94E5E8-07A5-46D2-A414-A95AC18A311A}" srcOrd="0" destOrd="0" parTransId="{A3E2C6C4-646B-4929-BC14-AF78BC71DD68}" sibTransId="{FD7522E6-51A2-4FE6-90CC-CE308E09E9B5}"/>
    <dgm:cxn modelId="{71E0EA24-E1B5-4FFE-A160-189CB1EF3D05}" type="presOf" srcId="{0AD0243A-FE42-48A6-834B-FAC5A9AB903A}" destId="{CE02C4C2-100F-4069-ACFD-ABFE7B60CCAB}" srcOrd="0" destOrd="0" presId="urn:microsoft.com/office/officeart/2005/8/layout/vList2"/>
    <dgm:cxn modelId="{B704A758-DD21-4671-82C1-E1DD81BBDED8}" type="presOf" srcId="{44700AFC-574B-49BC-987D-22932097EE1B}" destId="{51305580-5B81-40ED-8CB3-C370BA06492A}" srcOrd="0" destOrd="0" presId="urn:microsoft.com/office/officeart/2005/8/layout/vList2"/>
    <dgm:cxn modelId="{8361E67E-D999-4F56-9E2E-4581AF7A9D00}" type="presOf" srcId="{263AA371-D1B6-4545-94C9-E66F8E73FB45}" destId="{B247C9D2-294B-498B-ADB0-EE89ABA2E77B}" srcOrd="0" destOrd="0" presId="urn:microsoft.com/office/officeart/2005/8/layout/vList2"/>
    <dgm:cxn modelId="{83B3C79B-50F5-4DC4-ABB5-74AFBF4DC9AD}" srcId="{44700AFC-574B-49BC-987D-22932097EE1B}" destId="{0AD0243A-FE42-48A6-834B-FAC5A9AB903A}" srcOrd="1" destOrd="0" parTransId="{D9135E3A-CEF6-4BBD-8DFD-4ABB2A9DAAA7}" sibTransId="{B560187F-43D9-4949-ACFC-43FCB5DA61DD}"/>
    <dgm:cxn modelId="{FCC392A2-9E72-42DA-92EB-7E12E7B768F9}" srcId="{44700AFC-574B-49BC-987D-22932097EE1B}" destId="{263AA371-D1B6-4545-94C9-E66F8E73FB45}" srcOrd="0" destOrd="0" parTransId="{0BD4210B-14AC-4FA5-B90F-13CB3CDAEEE1}" sibTransId="{BFDEE781-D702-42AB-9F77-11027A025EA3}"/>
    <dgm:cxn modelId="{D58C31DE-6323-4DB0-A33A-CA644B578B9C}" type="presOf" srcId="{7F94E5E8-07A5-46D2-A414-A95AC18A311A}" destId="{F16E940E-D450-4C38-8331-070E649AFA26}" srcOrd="0" destOrd="0" presId="urn:microsoft.com/office/officeart/2005/8/layout/vList2"/>
    <dgm:cxn modelId="{2D3772F5-9333-4F5B-901A-73AAB9A87ABE}" type="presParOf" srcId="{51305580-5B81-40ED-8CB3-C370BA06492A}" destId="{B247C9D2-294B-498B-ADB0-EE89ABA2E77B}" srcOrd="0" destOrd="0" presId="urn:microsoft.com/office/officeart/2005/8/layout/vList2"/>
    <dgm:cxn modelId="{EB00D2A1-2770-4859-931E-A7BFA6FA2B5F}" type="presParOf" srcId="{51305580-5B81-40ED-8CB3-C370BA06492A}" destId="{F16E940E-D450-4C38-8331-070E649AFA26}" srcOrd="1" destOrd="0" presId="urn:microsoft.com/office/officeart/2005/8/layout/vList2"/>
    <dgm:cxn modelId="{0AC098AB-C7BA-4E47-87E2-CB7DAAC5CDDA}" type="presParOf" srcId="{51305580-5B81-40ED-8CB3-C370BA06492A}" destId="{CE02C4C2-100F-4069-ACFD-ABFE7B60CCA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7C9D2-294B-498B-ADB0-EE89ABA2E77B}">
      <dsp:nvSpPr>
        <dsp:cNvPr id="0" name=""/>
        <dsp:cNvSpPr/>
      </dsp:nvSpPr>
      <dsp:spPr>
        <a:xfrm>
          <a:off x="0" y="868962"/>
          <a:ext cx="7647559" cy="121680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Logistic Regression</a:t>
          </a:r>
        </a:p>
      </dsp:txBody>
      <dsp:txXfrm>
        <a:off x="59399" y="928361"/>
        <a:ext cx="7528761" cy="1098002"/>
      </dsp:txXfrm>
    </dsp:sp>
    <dsp:sp modelId="{F16E940E-D450-4C38-8331-070E649AFA26}">
      <dsp:nvSpPr>
        <dsp:cNvPr id="0" name=""/>
        <dsp:cNvSpPr/>
      </dsp:nvSpPr>
      <dsp:spPr>
        <a:xfrm>
          <a:off x="0" y="2085762"/>
          <a:ext cx="7647559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810" tIns="82550" rIns="462280" bIns="82550" numCol="1" spcCol="1270" anchor="t" anchorCtr="0">
          <a:noAutofit/>
        </a:bodyPr>
        <a:lstStyle/>
        <a:p>
          <a:pPr marL="285750" lvl="1" indent="-285750" algn="l" defTabSz="2266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5100" kern="1200" dirty="0"/>
        </a:p>
      </dsp:txBody>
      <dsp:txXfrm>
        <a:off x="0" y="2085762"/>
        <a:ext cx="7647559" cy="1076400"/>
      </dsp:txXfrm>
    </dsp:sp>
    <dsp:sp modelId="{CE02C4C2-100F-4069-ACFD-ABFE7B60CCAB}">
      <dsp:nvSpPr>
        <dsp:cNvPr id="0" name=""/>
        <dsp:cNvSpPr/>
      </dsp:nvSpPr>
      <dsp:spPr>
        <a:xfrm>
          <a:off x="0" y="2111434"/>
          <a:ext cx="7647559" cy="1216800"/>
        </a:xfrm>
        <a:prstGeom prst="roundRect">
          <a:avLst/>
        </a:prstGeom>
        <a:solidFill>
          <a:schemeClr val="accent1">
            <a:shade val="50000"/>
            <a:hueOff val="-327304"/>
            <a:satOff val="3376"/>
            <a:lumOff val="4143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Polynomial Regression</a:t>
          </a:r>
        </a:p>
      </dsp:txBody>
      <dsp:txXfrm>
        <a:off x="59399" y="2170833"/>
        <a:ext cx="7528761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5" y="2708476"/>
            <a:ext cx="4417807" cy="170216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5" y="4421083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350">
                <a:solidFill>
                  <a:srgbClr val="42424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1800"/>
            </a:lvl1pPr>
          </a:lstStyle>
          <a:p>
            <a:fld id="{DB2D4653-C654-41D6-BC1A-9A2F0BA7556D}" type="datetime1">
              <a:rPr lang="en-US" smtClean="0"/>
              <a:t>9/28/2026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9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6" y="5719969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34309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0DC7-9023-4EA2-9AA7-DE0C1E5026C3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63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5" y="2900831"/>
            <a:ext cx="8849957" cy="1362075"/>
          </a:xfrm>
        </p:spPr>
        <p:txBody>
          <a:bodyPr anchor="b"/>
          <a:lstStyle>
            <a:lvl1pPr algn="l">
              <a:defRPr sz="3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5" y="4267203"/>
            <a:ext cx="8849956" cy="1520413"/>
          </a:xfrm>
        </p:spPr>
        <p:txBody>
          <a:bodyPr anchor="t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D8C7C-081D-4325-BCBE-BFB3C88CD354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89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8921-FA0E-491B-A90A-68B94B667F3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7534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6" y="2316009"/>
            <a:ext cx="4076197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7"/>
            <a:ext cx="4559808" cy="28357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2" y="2316010"/>
            <a:ext cx="4074289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7"/>
            <a:ext cx="4559808" cy="28357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25C6-2366-4B57-8901-C74185ABD5DC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2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C3304-CA81-479F-9B16-EA9383EEB5F3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69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C2DE-6833-4796-85D9-620A2A4712D5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33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130E3-EEE8-4A5B-A1C6-6BEEF1C59919}" type="datetime1">
              <a:rPr lang="en-US" smtClean="0"/>
              <a:t>9/28/2026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430" y="601886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60" y="856527"/>
            <a:ext cx="4120587" cy="5150734"/>
          </a:xfrm>
        </p:spPr>
        <p:txBody>
          <a:bodyPr/>
          <a:lstStyle>
            <a:lvl1pPr>
              <a:defRPr sz="1800"/>
            </a:lvl1pPr>
            <a:lvl2pPr>
              <a:defRPr sz="165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8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7"/>
            <a:ext cx="4406096" cy="1463153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7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905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2" name="Rectangle 101"/>
          <p:cNvSpPr/>
          <p:nvPr/>
        </p:nvSpPr>
        <p:spPr>
          <a:xfrm>
            <a:off x="1207430" y="601886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80" y="693795"/>
            <a:ext cx="4479497" cy="546811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2" y="4133091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4FCE-2CC8-4B1B-BA0F-0894C4701D4B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8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633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72C9-CD79-4ED9-A1BC-11297C73F37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22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1030147"/>
            <a:ext cx="1979271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6" y="1030147"/>
            <a:ext cx="7231605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A5FE-48E4-4EF0-AF0C-34745394CA0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75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B71F-5023-403B-A94C-9F092ECC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3" y="103188"/>
            <a:ext cx="10991849" cy="1314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62C891-4B3A-4537-9BC2-C367E8F600B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45611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0415-C7EC-4DC8-9FC6-FDF1831D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A6A5D-F0A7-4F13-82AA-6CD96C04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0699B-98A2-420D-8260-DBDF3C3B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79DC73A-B4EB-4E02-AB09-ADEE0E7AB1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219018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90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5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EFEFE"/>
                </a:solidFill>
              </a:defRPr>
            </a:lvl1pPr>
          </a:lstStyle>
          <a:p>
            <a:fld id="{28F7862D-8FC9-4C8D-8616-C2D3EDF8285A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3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4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5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480060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5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84353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99441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138428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6pPr>
      <a:lvl7pPr marL="128930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7pPr>
      <a:lvl8pPr marL="144018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8pPr>
      <a:lvl9pPr marL="1591056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03</a:t>
            </a:r>
          </a:p>
          <a:p>
            <a:pPr>
              <a:lnSpc>
                <a:spcPct val="90000"/>
              </a:lnSpc>
            </a:pPr>
            <a:endParaRPr lang="en-US" sz="4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BE77-7931-B20F-3E6D-B22024C80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D965B2-0E0D-041E-7248-1A82228F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46306"/>
            <a:ext cx="9601196" cy="76226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Lab Contents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C045FE8-40D7-ED0A-68B8-0E9C962D0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371649"/>
              </p:ext>
            </p:extLst>
          </p:nvPr>
        </p:nvGraphicFramePr>
        <p:xfrm>
          <a:off x="2272220" y="1610075"/>
          <a:ext cx="7647559" cy="524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389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1E5C-048A-4021-AAD3-327D2BD4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2929FF"/>
                </a:solidFill>
              </a:rPr>
              <a:t>Logistic Regression (Scratch)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C570-4124-40E2-A2FB-030B7E21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974" y="2984315"/>
            <a:ext cx="8619672" cy="3318936"/>
          </a:xfrm>
        </p:spPr>
        <p:txBody>
          <a:bodyPr>
            <a:normAutofit/>
          </a:bodyPr>
          <a:lstStyle/>
          <a:p>
            <a:r>
              <a:rPr lang="en-US" sz="3200" dirty="0"/>
              <a:t> Logistic Regression from scratch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906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163" y="1515065"/>
            <a:ext cx="11029119" cy="4391625"/>
          </a:xfrm>
        </p:spPr>
        <p:txBody>
          <a:bodyPr>
            <a:noAutofit/>
          </a:bodyPr>
          <a:lstStyle/>
          <a:p>
            <a:r>
              <a:rPr lang="en-GB" sz="2000" dirty="0"/>
              <a:t>it's  also known as logit regression</a:t>
            </a:r>
          </a:p>
          <a:p>
            <a:r>
              <a:rPr lang="en-GB" sz="2000" dirty="0"/>
              <a:t>Use for classification.</a:t>
            </a:r>
          </a:p>
          <a:p>
            <a:r>
              <a:rPr lang="en-GB" sz="2000" dirty="0"/>
              <a:t>Help in decision making.</a:t>
            </a:r>
          </a:p>
          <a:p>
            <a:r>
              <a:rPr lang="en-GB" sz="2000" dirty="0"/>
              <a:t>Where the situation is not clear you do not know the outcome results.</a:t>
            </a:r>
          </a:p>
          <a:p>
            <a:r>
              <a:rPr lang="en-GB" sz="2000" dirty="0"/>
              <a:t>in regression dependent variable was continuous. </a:t>
            </a:r>
          </a:p>
          <a:p>
            <a:r>
              <a:rPr lang="en-GB" sz="2000" dirty="0"/>
              <a:t>In this dependent variables is binary 0 or  1 or  binomial.</a:t>
            </a:r>
          </a:p>
          <a:p>
            <a:r>
              <a:rPr lang="en-GB" sz="2000" dirty="0"/>
              <a:t>Used in decision making so it support probability. </a:t>
            </a:r>
          </a:p>
          <a:p>
            <a:r>
              <a:rPr lang="en-GB" sz="2000" dirty="0"/>
              <a:t>probability range is 0-1.</a:t>
            </a:r>
          </a:p>
          <a:p>
            <a:r>
              <a:rPr lang="en-GB" sz="2000" dirty="0"/>
              <a:t>Binary classification it means that only two outcomes. </a:t>
            </a:r>
          </a:p>
          <a:p>
            <a:r>
              <a:rPr lang="en-GB" sz="2000" dirty="0"/>
              <a:t>Multi class means different classes.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654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51" y="1484243"/>
            <a:ext cx="11029119" cy="4391625"/>
          </a:xfrm>
        </p:spPr>
        <p:txBody>
          <a:bodyPr>
            <a:noAutofit/>
          </a:bodyPr>
          <a:lstStyle/>
          <a:p>
            <a:r>
              <a:rPr lang="en-GB" sz="2000" dirty="0"/>
              <a:t>in linear relation we can draw straight line to classify but in this we can’t.</a:t>
            </a:r>
          </a:p>
          <a:p>
            <a:r>
              <a:rPr lang="en-GB" sz="2000" dirty="0"/>
              <a:t> The outcome is form of s.</a:t>
            </a:r>
          </a:p>
          <a:p>
            <a:r>
              <a:rPr lang="en-GB" sz="2000" dirty="0"/>
              <a:t>Backend working sigmoid or logit function</a:t>
            </a:r>
          </a:p>
          <a:p>
            <a:r>
              <a:rPr lang="en-GB" sz="2000" dirty="0"/>
              <a:t>Sigmoid probability is equal to 1 / 1 + </a:t>
            </a:r>
            <a:r>
              <a:rPr lang="en-GB" b="1" dirty="0"/>
              <a:t>e</a:t>
            </a:r>
            <a:r>
              <a:rPr lang="en-GB" b="1" baseline="30000" dirty="0"/>
              <a:t>-z</a:t>
            </a:r>
            <a:r>
              <a:rPr lang="en-GB" sz="2000" dirty="0"/>
              <a:t>. So e Euler's  number = 2.7 </a:t>
            </a:r>
          </a:p>
          <a:p>
            <a:r>
              <a:rPr lang="en-GB" sz="2000" dirty="0"/>
              <a:t>Z is equal to linear equation </a:t>
            </a:r>
            <a:r>
              <a:rPr lang="en-GB" sz="2000" dirty="0" err="1"/>
              <a:t>equation</a:t>
            </a:r>
            <a:r>
              <a:rPr lang="en-GB" sz="2000" dirty="0"/>
              <a:t> y= </a:t>
            </a:r>
            <a:r>
              <a:rPr lang="en-GB" sz="2000" dirty="0" err="1"/>
              <a:t>mx+b</a:t>
            </a:r>
            <a:r>
              <a:rPr lang="en-GB" sz="2000" dirty="0"/>
              <a:t>...</a:t>
            </a:r>
          </a:p>
          <a:p>
            <a:r>
              <a:rPr lang="en-GB" sz="2000" dirty="0"/>
              <a:t>it converts input into 0 1 range...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EB783-1E22-4654-B28D-401A887D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340" y="3513762"/>
            <a:ext cx="3417681" cy="21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8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51" y="1484243"/>
            <a:ext cx="11029119" cy="4391625"/>
          </a:xfrm>
        </p:spPr>
        <p:txBody>
          <a:bodyPr>
            <a:no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pandas as pd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r>
              <a:rPr lang="en-US" dirty="0"/>
              <a:t>, </a:t>
            </a:r>
            <a:r>
              <a:rPr lang="en-US" dirty="0" err="1"/>
              <a:t>confusion_matrix</a:t>
            </a:r>
            <a:endParaRPr lang="en-US" dirty="0"/>
          </a:p>
          <a:p>
            <a:br>
              <a:rPr lang="en-US" dirty="0"/>
            </a:br>
            <a:r>
              <a:rPr lang="en-US" dirty="0"/>
              <a:t># Load the dataset from a CSV file</a:t>
            </a:r>
          </a:p>
          <a:p>
            <a:r>
              <a:rPr lang="en-US" dirty="0"/>
              <a:t>data = </a:t>
            </a:r>
            <a:r>
              <a:rPr lang="en-US" dirty="0" err="1"/>
              <a:t>pd.read_csv</a:t>
            </a:r>
            <a:r>
              <a:rPr lang="en-US" dirty="0"/>
              <a:t>('/content/Social_Network_Ads.csv')  </a:t>
            </a:r>
          </a:p>
        </p:txBody>
      </p:sp>
    </p:spTree>
    <p:extLst>
      <p:ext uri="{BB962C8B-B14F-4D97-AF65-F5344CB8AC3E}">
        <p14:creationId xmlns:p14="http://schemas.microsoft.com/office/powerpoint/2010/main" val="40552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502" y="1904526"/>
            <a:ext cx="11029119" cy="4391625"/>
          </a:xfrm>
        </p:spPr>
        <p:txBody>
          <a:bodyPr>
            <a:no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# Preprocessing</a:t>
            </a:r>
          </a:p>
          <a:p>
            <a:r>
              <a:rPr lang="en-US" dirty="0">
                <a:highlight>
                  <a:srgbClr val="FFFF00"/>
                </a:highlight>
              </a:rPr>
              <a:t># Encode categorical variable 'Gender'</a:t>
            </a:r>
          </a:p>
          <a:p>
            <a:r>
              <a:rPr lang="en-US" dirty="0"/>
              <a:t>data = </a:t>
            </a:r>
            <a:r>
              <a:rPr lang="en-US" dirty="0" err="1"/>
              <a:t>pd.get_dummies</a:t>
            </a:r>
            <a:r>
              <a:rPr lang="en-US" dirty="0"/>
              <a:t>(data, columns=['Gender'], </a:t>
            </a:r>
            <a:r>
              <a:rPr lang="en-US" dirty="0" err="1"/>
              <a:t>drop_first</a:t>
            </a:r>
            <a:r>
              <a:rPr lang="en-US" dirty="0"/>
              <a:t>=True)</a:t>
            </a:r>
          </a:p>
          <a:p>
            <a:r>
              <a:rPr lang="en-US" dirty="0">
                <a:highlight>
                  <a:srgbClr val="FFFF00"/>
                </a:highlight>
              </a:rPr>
              <a:t># Define features and target variable</a:t>
            </a:r>
          </a:p>
          <a:p>
            <a:r>
              <a:rPr lang="en-US" dirty="0"/>
              <a:t>X = data[['</a:t>
            </a:r>
            <a:r>
              <a:rPr lang="en-US" dirty="0" err="1"/>
              <a:t>Gender_Male</a:t>
            </a:r>
            <a:r>
              <a:rPr lang="en-US" dirty="0"/>
              <a:t>', 'Age', '</a:t>
            </a:r>
            <a:r>
              <a:rPr lang="en-US" dirty="0" err="1"/>
              <a:t>EstimatedSalary</a:t>
            </a:r>
            <a:r>
              <a:rPr lang="en-US" dirty="0"/>
              <a:t>']].values</a:t>
            </a:r>
          </a:p>
          <a:p>
            <a:r>
              <a:rPr lang="en-US" dirty="0"/>
              <a:t>y = data['Purchased'].values </a:t>
            </a:r>
            <a:r>
              <a:rPr lang="en-US" dirty="0">
                <a:highlight>
                  <a:srgbClr val="FFFF00"/>
                </a:highlight>
              </a:rPr>
              <a:t># Target variable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5DF4B-8633-862A-2FB1-5B7AE5F9A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860" y="1306074"/>
            <a:ext cx="2966140" cy="1759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438F3D-5A74-C781-F795-6F868883C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346" y="2973774"/>
            <a:ext cx="2922654" cy="13272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5F1328-8A1F-C313-7773-52AAC9D5AE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177" y="4300978"/>
            <a:ext cx="2869823" cy="125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0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71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186" y="885160"/>
            <a:ext cx="11133243" cy="6074440"/>
          </a:xfrm>
        </p:spPr>
        <p:txBody>
          <a:bodyPr>
            <a:no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# Split the dataset into training and testing sets</a:t>
            </a:r>
          </a:p>
          <a:p>
            <a:r>
              <a:rPr lang="en-US" sz="2800" dirty="0" err="1"/>
              <a:t>X_train</a:t>
            </a:r>
            <a:r>
              <a:rPr lang="en-US" sz="2800" dirty="0"/>
              <a:t>, </a:t>
            </a:r>
            <a:r>
              <a:rPr lang="en-US" sz="2800" dirty="0" err="1"/>
              <a:t>X_test</a:t>
            </a:r>
            <a:r>
              <a:rPr lang="en-US" sz="2800" dirty="0"/>
              <a:t>, </a:t>
            </a:r>
            <a:r>
              <a:rPr lang="en-US" sz="2800" dirty="0" err="1"/>
              <a:t>y_train</a:t>
            </a:r>
            <a:r>
              <a:rPr lang="en-US" sz="2800" dirty="0"/>
              <a:t>, </a:t>
            </a:r>
            <a:r>
              <a:rPr lang="en-US" sz="2800" dirty="0" err="1"/>
              <a:t>y_test</a:t>
            </a:r>
            <a:r>
              <a:rPr lang="en-US" sz="2800" dirty="0"/>
              <a:t> = </a:t>
            </a:r>
            <a:r>
              <a:rPr lang="en-US" sz="2800" dirty="0" err="1"/>
              <a:t>train_test_split</a:t>
            </a:r>
            <a:r>
              <a:rPr lang="en-US" sz="2800" dirty="0"/>
              <a:t>(X, y, </a:t>
            </a:r>
            <a:r>
              <a:rPr lang="en-US" sz="2800" dirty="0" err="1"/>
              <a:t>test_size</a:t>
            </a:r>
            <a:r>
              <a:rPr lang="en-US" sz="2800" dirty="0"/>
              <a:t>=0.2, </a:t>
            </a:r>
            <a:r>
              <a:rPr lang="en-US" sz="2800" dirty="0" err="1"/>
              <a:t>random_state</a:t>
            </a:r>
            <a:r>
              <a:rPr lang="en-US" sz="2800" dirty="0"/>
              <a:t>=42)</a:t>
            </a:r>
          </a:p>
          <a:p>
            <a:br>
              <a:rPr lang="en-US" sz="2800" dirty="0"/>
            </a:br>
            <a:r>
              <a:rPr lang="en-US" sz="2800" dirty="0">
                <a:highlight>
                  <a:srgbClr val="FFFF00"/>
                </a:highlight>
              </a:rPr>
              <a:t># Scale the features</a:t>
            </a:r>
          </a:p>
          <a:p>
            <a:r>
              <a:rPr lang="en-US" sz="2800" dirty="0"/>
              <a:t>scaler = </a:t>
            </a:r>
            <a:r>
              <a:rPr lang="en-US" sz="2800" dirty="0" err="1"/>
              <a:t>StandardScaler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X_train</a:t>
            </a:r>
            <a:r>
              <a:rPr lang="en-US" sz="2800" dirty="0"/>
              <a:t> = </a:t>
            </a:r>
            <a:r>
              <a:rPr lang="en-US" sz="2800" dirty="0" err="1"/>
              <a:t>scaler.fit_transform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X_test</a:t>
            </a:r>
            <a:r>
              <a:rPr lang="en-US" sz="2800" dirty="0"/>
              <a:t> = </a:t>
            </a:r>
            <a:r>
              <a:rPr lang="en-US" sz="2800" dirty="0" err="1"/>
              <a:t>scaler.transform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)</a:t>
            </a:r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56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# Logistic Regression Implementation</a:t>
            </a:r>
          </a:p>
          <a:p>
            <a:r>
              <a:rPr lang="en-US" sz="1800" dirty="0"/>
              <a:t>class </a:t>
            </a:r>
            <a:r>
              <a:rPr lang="en-US" sz="1800" dirty="0" err="1"/>
              <a:t>LogisticRegression</a:t>
            </a:r>
            <a:r>
              <a:rPr lang="en-US" sz="1800" dirty="0"/>
              <a:t>:</a:t>
            </a:r>
          </a:p>
          <a:p>
            <a:r>
              <a:rPr lang="en-US" sz="1800" dirty="0"/>
              <a:t>    def __</a:t>
            </a:r>
            <a:r>
              <a:rPr lang="en-US" sz="1800" dirty="0" err="1"/>
              <a:t>init</a:t>
            </a:r>
            <a:r>
              <a:rPr lang="en-US" sz="1800" dirty="0"/>
              <a:t>__(self, </a:t>
            </a:r>
            <a:r>
              <a:rPr lang="en-US" sz="1800" dirty="0" err="1"/>
              <a:t>learning_rate</a:t>
            </a:r>
            <a:r>
              <a:rPr lang="en-US" sz="1800" dirty="0"/>
              <a:t>=0.01, </a:t>
            </a:r>
            <a:r>
              <a:rPr lang="en-US" sz="1800" dirty="0" err="1"/>
              <a:t>num_iterations</a:t>
            </a:r>
            <a:r>
              <a:rPr lang="en-US" sz="1800" dirty="0"/>
              <a:t>=1000):</a:t>
            </a:r>
          </a:p>
          <a:p>
            <a:r>
              <a:rPr lang="en-US" sz="1800" dirty="0"/>
              <a:t>        self.lr = </a:t>
            </a:r>
            <a:r>
              <a:rPr lang="en-US" sz="1800" dirty="0" err="1"/>
              <a:t>learning_rate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self.iterations</a:t>
            </a:r>
            <a:r>
              <a:rPr lang="en-US" sz="1800" dirty="0"/>
              <a:t> = </a:t>
            </a:r>
            <a:r>
              <a:rPr lang="en-US" sz="1800" dirty="0" err="1"/>
              <a:t>num_iterations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self.weights</a:t>
            </a:r>
            <a:r>
              <a:rPr lang="en-US" sz="1800" dirty="0"/>
              <a:t> = None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self.bias</a:t>
            </a:r>
            <a:r>
              <a:rPr lang="en-US" sz="1800" dirty="0"/>
              <a:t> = None    </a:t>
            </a:r>
          </a:p>
          <a:p>
            <a:r>
              <a:rPr lang="en-US" sz="1800" dirty="0"/>
              <a:t>    def sigmoid(self, z):</a:t>
            </a:r>
          </a:p>
          <a:p>
            <a:r>
              <a:rPr lang="en-US" sz="1800" dirty="0"/>
              <a:t>        return 1 / (1 + </a:t>
            </a:r>
            <a:r>
              <a:rPr lang="en-US" sz="1800" dirty="0" err="1"/>
              <a:t>np.exp</a:t>
            </a:r>
            <a:r>
              <a:rPr lang="en-US" sz="1800" dirty="0"/>
              <a:t>(-z))</a:t>
            </a:r>
          </a:p>
          <a:p>
            <a:br>
              <a:rPr lang="en-US" sz="1800" dirty="0"/>
            </a:br>
            <a:r>
              <a:rPr lang="en-US" sz="1800" dirty="0"/>
              <a:t>    def fit(self, X, y):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num_samples</a:t>
            </a:r>
            <a:r>
              <a:rPr lang="en-US" sz="1800" dirty="0"/>
              <a:t>, </a:t>
            </a:r>
            <a:r>
              <a:rPr lang="en-US" sz="1800" dirty="0" err="1"/>
              <a:t>num_features</a:t>
            </a:r>
            <a:r>
              <a:rPr lang="en-US" sz="1800" dirty="0"/>
              <a:t> = </a:t>
            </a:r>
            <a:r>
              <a:rPr lang="en-US" sz="1800" dirty="0" err="1"/>
              <a:t>X.shape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self.weights</a:t>
            </a:r>
            <a:r>
              <a:rPr lang="en-US" sz="1800" dirty="0"/>
              <a:t> = </a:t>
            </a:r>
            <a:r>
              <a:rPr lang="en-US" sz="1800" dirty="0" err="1"/>
              <a:t>np.zeros</a:t>
            </a:r>
            <a:r>
              <a:rPr lang="en-US" sz="1800" dirty="0"/>
              <a:t>(</a:t>
            </a:r>
            <a:r>
              <a:rPr lang="en-US" sz="1800" dirty="0" err="1"/>
              <a:t>num_features</a:t>
            </a:r>
            <a:r>
              <a:rPr lang="en-US" sz="1800" dirty="0"/>
              <a:t>)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self.bias</a:t>
            </a:r>
            <a:r>
              <a:rPr lang="en-US" sz="1800" dirty="0"/>
              <a:t> = 0</a:t>
            </a:r>
          </a:p>
          <a:p>
            <a:br>
              <a:rPr lang="en-US" sz="1800" dirty="0"/>
            </a:br>
            <a:r>
              <a:rPr lang="en-US" sz="1800" dirty="0"/>
              <a:t>      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D0524-7CC5-4401-67BE-3C9EDD399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98" y="2463800"/>
            <a:ext cx="28956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1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264F-F86F-5D9F-4436-4D86B5BB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D269B3-8EAE-2BD7-1D79-BD919043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56B7E1-008F-4E37-17A2-50620D6BF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r>
              <a:rPr lang="en-US" sz="1800" dirty="0"/>
              <a:t>for </a:t>
            </a:r>
            <a:r>
              <a:rPr lang="en-US" sz="1800" dirty="0" err="1"/>
              <a:t>i</a:t>
            </a:r>
            <a:r>
              <a:rPr lang="en-US" sz="1800" dirty="0"/>
              <a:t> in range(</a:t>
            </a:r>
            <a:r>
              <a:rPr lang="en-US" sz="1800" dirty="0" err="1"/>
              <a:t>self.iterations</a:t>
            </a:r>
            <a:r>
              <a:rPr lang="en-US" sz="1800" dirty="0"/>
              <a:t>):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linear_model</a:t>
            </a:r>
            <a:r>
              <a:rPr lang="en-US" sz="1800" dirty="0"/>
              <a:t> = np.dot(X, </a:t>
            </a:r>
            <a:r>
              <a:rPr lang="en-US" sz="1800" dirty="0" err="1"/>
              <a:t>self.weights</a:t>
            </a:r>
            <a:r>
              <a:rPr lang="en-US" sz="1800" dirty="0"/>
              <a:t>) + </a:t>
            </a:r>
            <a:r>
              <a:rPr lang="en-US" sz="1800" dirty="0" err="1"/>
              <a:t>self.bias</a:t>
            </a:r>
            <a:endParaRPr lang="en-US" sz="1800" dirty="0"/>
          </a:p>
          <a:p>
            <a:r>
              <a:rPr lang="en-US" sz="1800" dirty="0"/>
              <a:t>            </a:t>
            </a:r>
            <a:r>
              <a:rPr lang="en-US" sz="1800" dirty="0" err="1"/>
              <a:t>y_predicted</a:t>
            </a:r>
            <a:r>
              <a:rPr lang="en-US" sz="1800" dirty="0"/>
              <a:t> = </a:t>
            </a:r>
            <a:r>
              <a:rPr lang="en-US" sz="1800" dirty="0" err="1"/>
              <a:t>self.sigmoid</a:t>
            </a:r>
            <a:r>
              <a:rPr lang="en-US" sz="1800" dirty="0"/>
              <a:t>(</a:t>
            </a:r>
            <a:r>
              <a:rPr lang="en-US" sz="1800" dirty="0" err="1"/>
              <a:t>linear_model</a:t>
            </a:r>
            <a:r>
              <a:rPr lang="en-US" sz="1800" dirty="0"/>
              <a:t>)</a:t>
            </a:r>
          </a:p>
          <a:p>
            <a:br>
              <a:rPr lang="en-US" sz="1800" dirty="0">
                <a:highlight>
                  <a:srgbClr val="FFFF00"/>
                </a:highlight>
              </a:rPr>
            </a:br>
            <a:r>
              <a:rPr lang="en-US" sz="1800" dirty="0">
                <a:highlight>
                  <a:srgbClr val="FFFF00"/>
                </a:highlight>
              </a:rPr>
              <a:t>            # Update weights and bias by calculating Gradient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dw</a:t>
            </a:r>
            <a:r>
              <a:rPr lang="en-US" sz="1800" dirty="0"/>
              <a:t> = (1 / </a:t>
            </a:r>
            <a:r>
              <a:rPr lang="en-US" sz="1800" dirty="0" err="1"/>
              <a:t>num_samples</a:t>
            </a:r>
            <a:r>
              <a:rPr lang="en-US" sz="1800" dirty="0"/>
              <a:t>) * np.dot(X.T, (</a:t>
            </a:r>
            <a:r>
              <a:rPr lang="en-US" sz="1800" dirty="0" err="1"/>
              <a:t>y_predicted</a:t>
            </a:r>
            <a:r>
              <a:rPr lang="en-US" sz="1800" dirty="0"/>
              <a:t> - y))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db</a:t>
            </a:r>
            <a:r>
              <a:rPr lang="en-US" sz="1800" dirty="0"/>
              <a:t> = (1 / </a:t>
            </a:r>
            <a:r>
              <a:rPr lang="en-US" sz="1800" dirty="0" err="1"/>
              <a:t>num_samples</a:t>
            </a:r>
            <a:r>
              <a:rPr lang="en-US" sz="1800" dirty="0"/>
              <a:t>) * </a:t>
            </a:r>
            <a:r>
              <a:rPr lang="en-US" sz="1800" dirty="0" err="1"/>
              <a:t>np.sum</a:t>
            </a:r>
            <a:r>
              <a:rPr lang="en-US" sz="1800" dirty="0"/>
              <a:t>(</a:t>
            </a:r>
            <a:r>
              <a:rPr lang="en-US" sz="1800" dirty="0" err="1"/>
              <a:t>y_predicted</a:t>
            </a:r>
            <a:r>
              <a:rPr lang="en-US" sz="1800" dirty="0"/>
              <a:t> - y)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self.weights</a:t>
            </a:r>
            <a:r>
              <a:rPr lang="en-US" sz="1800" dirty="0"/>
              <a:t> -= self.lr * </a:t>
            </a:r>
            <a:r>
              <a:rPr lang="en-US" sz="1800" dirty="0" err="1"/>
              <a:t>dw</a:t>
            </a:r>
            <a:endParaRPr lang="en-US" sz="1800" dirty="0"/>
          </a:p>
          <a:p>
            <a:r>
              <a:rPr lang="en-US" sz="1800" dirty="0"/>
              <a:t>            </a:t>
            </a:r>
            <a:r>
              <a:rPr lang="en-US" sz="1800" dirty="0" err="1"/>
              <a:t>self.bias</a:t>
            </a:r>
            <a:r>
              <a:rPr lang="en-US" sz="1800" dirty="0"/>
              <a:t> -= self.lr * </a:t>
            </a:r>
            <a:r>
              <a:rPr lang="en-US" sz="1800" dirty="0" err="1"/>
              <a:t>db</a:t>
            </a:r>
            <a:endParaRPr lang="en-US" sz="1800" dirty="0"/>
          </a:p>
          <a:p>
            <a:br>
              <a:rPr lang="en-US" sz="1800" dirty="0"/>
            </a:br>
            <a:r>
              <a:rPr lang="en-US" sz="1800" dirty="0"/>
              <a:t>    def predict(self, X):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linear_model</a:t>
            </a:r>
            <a:r>
              <a:rPr lang="en-US" sz="1800" dirty="0"/>
              <a:t> = np.dot(X, </a:t>
            </a:r>
            <a:r>
              <a:rPr lang="en-US" sz="1800" dirty="0" err="1"/>
              <a:t>self.weights</a:t>
            </a:r>
            <a:r>
              <a:rPr lang="en-US" sz="1800" dirty="0"/>
              <a:t>) + </a:t>
            </a:r>
            <a:r>
              <a:rPr lang="en-US" sz="1800" dirty="0" err="1"/>
              <a:t>self.bias</a:t>
            </a:r>
            <a:endParaRPr lang="en-US" sz="1800" dirty="0"/>
          </a:p>
          <a:p>
            <a:r>
              <a:rPr lang="en-US" sz="1800" dirty="0"/>
              <a:t>        return [1 if </a:t>
            </a:r>
            <a:r>
              <a:rPr lang="en-US" sz="1800" dirty="0" err="1"/>
              <a:t>i</a:t>
            </a:r>
            <a:r>
              <a:rPr lang="en-US" sz="1800" dirty="0"/>
              <a:t> &gt; 0.5 else 0 for </a:t>
            </a:r>
            <a:r>
              <a:rPr lang="en-US" sz="1800" dirty="0" err="1"/>
              <a:t>i</a:t>
            </a:r>
            <a:r>
              <a:rPr lang="en-US" sz="1800" dirty="0"/>
              <a:t> in </a:t>
            </a:r>
            <a:r>
              <a:rPr lang="en-US" sz="1800" dirty="0" err="1"/>
              <a:t>self.sigmoid</a:t>
            </a:r>
            <a:r>
              <a:rPr lang="en-US" sz="1800" dirty="0"/>
              <a:t>(</a:t>
            </a:r>
            <a:r>
              <a:rPr lang="en-US" sz="1800" dirty="0" err="1"/>
              <a:t>linear_model</a:t>
            </a:r>
            <a:r>
              <a:rPr lang="en-US" sz="1800" dirty="0"/>
              <a:t>)]</a:t>
            </a:r>
          </a:p>
          <a:p>
            <a:br>
              <a:rPr lang="en-US" sz="1800" dirty="0"/>
            </a:br>
            <a:endParaRPr lang="en-US" sz="1800" dirty="0"/>
          </a:p>
        </p:txBody>
      </p:sp>
      <p:pic>
        <p:nvPicPr>
          <p:cNvPr id="3" name="Picture 2" descr="A black and white symbol&#10;&#10;AI-generated content may be incorrect.">
            <a:extLst>
              <a:ext uri="{FF2B5EF4-FFF2-40B4-BE49-F238E27FC236}">
                <a16:creationId xmlns:a16="http://schemas.microsoft.com/office/drawing/2014/main" id="{27A4AF17-F0AB-58E7-4E99-64BA789E3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39" y="2587083"/>
            <a:ext cx="3560503" cy="1312811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51B0D37-9DE3-DC66-B6F6-A1C32655D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39" y="1361455"/>
            <a:ext cx="3731693" cy="94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5D92-3B82-1FDB-E899-C1FFE2E4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2A569-A9C2-E620-2711-95137E9E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0F5BE7-FEAC-508F-CF44-60DCFA02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br>
              <a:rPr lang="en-US" sz="1800" dirty="0"/>
            </a:br>
            <a:r>
              <a:rPr lang="en-US" sz="1800" dirty="0">
                <a:highlight>
                  <a:srgbClr val="FFFF00"/>
                </a:highlight>
              </a:rPr>
              <a:t># Train the Model</a:t>
            </a:r>
          </a:p>
          <a:p>
            <a:r>
              <a:rPr lang="en-US" sz="1800" dirty="0"/>
              <a:t>model = </a:t>
            </a:r>
            <a:r>
              <a:rPr lang="en-US" sz="1800" dirty="0" err="1"/>
              <a:t>LogisticRegression</a:t>
            </a:r>
            <a:r>
              <a:rPr lang="en-US" sz="1800" dirty="0"/>
              <a:t>(</a:t>
            </a:r>
            <a:r>
              <a:rPr lang="en-US" sz="1800" dirty="0" err="1"/>
              <a:t>learning_rate</a:t>
            </a:r>
            <a:r>
              <a:rPr lang="en-US" sz="1800" dirty="0"/>
              <a:t>=0.1, </a:t>
            </a:r>
            <a:r>
              <a:rPr lang="en-US" sz="1800" dirty="0" err="1"/>
              <a:t>num_iterations</a:t>
            </a:r>
            <a:r>
              <a:rPr lang="en-US" sz="1800" dirty="0"/>
              <a:t>=1000)</a:t>
            </a:r>
          </a:p>
          <a:p>
            <a:r>
              <a:rPr lang="en-US" sz="1800" dirty="0" err="1"/>
              <a:t>model.fit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)</a:t>
            </a:r>
          </a:p>
          <a:p>
            <a:br>
              <a:rPr lang="en-US" sz="1800" dirty="0"/>
            </a:br>
            <a:r>
              <a:rPr lang="en-US" sz="1800" dirty="0">
                <a:highlight>
                  <a:srgbClr val="FFFF00"/>
                </a:highlight>
              </a:rPr>
              <a:t># Evaluate the Model</a:t>
            </a:r>
          </a:p>
          <a:p>
            <a:r>
              <a:rPr lang="en-US" sz="1800" dirty="0"/>
              <a:t>predictions = </a:t>
            </a:r>
            <a:r>
              <a:rPr lang="en-US" sz="1800" dirty="0" err="1"/>
              <a:t>model.predict</a:t>
            </a:r>
            <a:r>
              <a:rPr lang="en-US" sz="1800" dirty="0"/>
              <a:t>(</a:t>
            </a:r>
            <a:r>
              <a:rPr lang="en-US" sz="1800" dirty="0" err="1"/>
              <a:t>X_test</a:t>
            </a:r>
            <a:r>
              <a:rPr lang="en-US" sz="1800" dirty="0"/>
              <a:t>)</a:t>
            </a:r>
          </a:p>
          <a:p>
            <a:r>
              <a:rPr lang="en-US" sz="1800" dirty="0"/>
              <a:t>print("Accuracy:", </a:t>
            </a:r>
            <a:r>
              <a:rPr lang="en-US" sz="1800" dirty="0" err="1"/>
              <a:t>accuracy_score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  <a:p>
            <a:r>
              <a:rPr lang="en-US" sz="1800" dirty="0"/>
              <a:t>print("Confusion Matrix:\n", </a:t>
            </a:r>
            <a:r>
              <a:rPr lang="en-US" sz="1800" dirty="0" err="1"/>
              <a:t>confusion_matrix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  <a:p>
            <a:r>
              <a:rPr lang="en-US" sz="1800" dirty="0"/>
              <a:t>print("Classification Report:\n", </a:t>
            </a:r>
            <a:r>
              <a:rPr lang="en-US" sz="1800" dirty="0" err="1"/>
              <a:t>classification_report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CD5BE-3EF4-65CC-E3AC-27838B7D4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86" y="4593641"/>
            <a:ext cx="4655457" cy="226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7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0" y="1103812"/>
            <a:ext cx="9036423" cy="47688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LogisticRegression</a:t>
            </a:r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confusion_matrix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Load dataset</a:t>
            </a:r>
          </a:p>
          <a:p>
            <a:r>
              <a:rPr lang="en-US" dirty="0"/>
              <a:t>data = </a:t>
            </a:r>
            <a:r>
              <a:rPr lang="en-US" dirty="0" err="1"/>
              <a:t>pd.read_csv</a:t>
            </a:r>
            <a:r>
              <a:rPr lang="en-US" dirty="0"/>
              <a:t>("/content/Social_Network_Ads.csv")</a:t>
            </a:r>
          </a:p>
          <a:p>
            <a:r>
              <a:rPr lang="en-US" dirty="0">
                <a:highlight>
                  <a:srgbClr val="FFFF00"/>
                </a:highlight>
              </a:rPr>
              <a:t># Encode Gender (Male/Female → 1/0)</a:t>
            </a:r>
          </a:p>
          <a:p>
            <a:r>
              <a:rPr lang="en-US" dirty="0"/>
              <a:t>le = 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r>
              <a:rPr lang="en-US" dirty="0"/>
              <a:t>data['Gender'] = </a:t>
            </a:r>
            <a:r>
              <a:rPr lang="en-US" dirty="0" err="1"/>
              <a:t>le.fit_transform</a:t>
            </a:r>
            <a:r>
              <a:rPr lang="en-US" dirty="0"/>
              <a:t>(data['Gender'])</a:t>
            </a:r>
          </a:p>
        </p:txBody>
      </p:sp>
    </p:spTree>
    <p:extLst>
      <p:ext uri="{BB962C8B-B14F-4D97-AF65-F5344CB8AC3E}">
        <p14:creationId xmlns:p14="http://schemas.microsoft.com/office/powerpoint/2010/main" val="841153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063772"/>
            <a:ext cx="9958848" cy="4768858"/>
          </a:xfrm>
        </p:spPr>
        <p:txBody>
          <a:bodyPr>
            <a:normAutofit fontScale="925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Features &amp; target</a:t>
            </a:r>
          </a:p>
          <a:p>
            <a:r>
              <a:rPr lang="en-US" dirty="0"/>
              <a:t>X = data[['Gender', 'Age', '</a:t>
            </a:r>
            <a:r>
              <a:rPr lang="en-US" dirty="0" err="1"/>
              <a:t>EstimatedSalary</a:t>
            </a:r>
            <a:r>
              <a:rPr lang="en-US" dirty="0"/>
              <a:t>']].values</a:t>
            </a:r>
          </a:p>
          <a:p>
            <a:r>
              <a:rPr lang="en-US" dirty="0"/>
              <a:t>y = data['Purchased'].values</a:t>
            </a:r>
          </a:p>
          <a:p>
            <a:r>
              <a:rPr lang="en-US" dirty="0">
                <a:highlight>
                  <a:srgbClr val="FFFF00"/>
                </a:highlight>
              </a:rPr>
              <a:t># Train-test split</a:t>
            </a:r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Scale features</a:t>
            </a:r>
          </a:p>
          <a:p>
            <a:r>
              <a:rPr lang="en-US" dirty="0"/>
              <a:t>scaler = </a:t>
            </a:r>
            <a:r>
              <a:rPr lang="en-US" dirty="0" err="1"/>
              <a:t>StandardScaler</a:t>
            </a:r>
            <a:r>
              <a:rPr lang="en-US" dirty="0"/>
              <a:t>()</a:t>
            </a:r>
          </a:p>
          <a:p>
            <a:r>
              <a:rPr lang="en-US" dirty="0" err="1"/>
              <a:t>X_train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</a:t>
            </a:r>
          </a:p>
          <a:p>
            <a:r>
              <a:rPr lang="en-US" dirty="0" err="1"/>
              <a:t>X_test</a:t>
            </a:r>
            <a:r>
              <a:rPr lang="en-US" dirty="0"/>
              <a:t> = </a:t>
            </a:r>
            <a:r>
              <a:rPr lang="en-US" dirty="0" err="1"/>
              <a:t>scaler.transform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845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418" y="1063772"/>
            <a:ext cx="10288753" cy="4768858"/>
          </a:xfrm>
        </p:spPr>
        <p:txBody>
          <a:bodyPr>
            <a:normAutofit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Logistic Regression</a:t>
            </a:r>
          </a:p>
          <a:p>
            <a:r>
              <a:rPr lang="en-US" dirty="0"/>
              <a:t>model = LogisticRegression()</a:t>
            </a:r>
          </a:p>
          <a:p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r>
              <a:rPr lang="en-US" dirty="0">
                <a:highlight>
                  <a:srgbClr val="FFFF00"/>
                </a:highlight>
              </a:rPr>
              <a:t># Predictions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Evaluation</a:t>
            </a:r>
          </a:p>
          <a:p>
            <a:r>
              <a:rPr lang="en-US" dirty="0"/>
              <a:t>print("Accuracy:", </a:t>
            </a:r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r>
              <a:rPr lang="en-US" dirty="0"/>
              <a:t>print("Confusion Matrix:\n", </a:t>
            </a:r>
            <a:r>
              <a:rPr lang="en-US" dirty="0" err="1"/>
              <a:t>confusion_matrix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r>
              <a:rPr lang="en-US" dirty="0"/>
              <a:t>print("Classification Report:\n", </a:t>
            </a:r>
            <a:r>
              <a:rPr lang="en-US" dirty="0" err="1"/>
              <a:t>classification_report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5F610-F60D-2711-DAF6-439CE620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127" y="1611322"/>
            <a:ext cx="4254719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2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86" y="1484243"/>
            <a:ext cx="9601196" cy="4391625"/>
          </a:xfrm>
        </p:spPr>
        <p:txBody>
          <a:bodyPr>
            <a:normAutofit fontScale="77500" lnSpcReduction="20000"/>
          </a:bodyPr>
          <a:lstStyle/>
          <a:p>
            <a:r>
              <a:rPr lang="fr-FR" sz="2800" i="1" dirty="0">
                <a:solidFill>
                  <a:schemeClr val="tx1"/>
                </a:solidFill>
              </a:rPr>
              <a:t>import pandas as </a:t>
            </a:r>
            <a:r>
              <a:rPr lang="fr-FR" sz="2800" i="1" dirty="0" err="1">
                <a:solidFill>
                  <a:schemeClr val="tx1"/>
                </a:solidFill>
              </a:rPr>
              <a:t>pd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</a:rPr>
              <a:t>import </a:t>
            </a:r>
            <a:r>
              <a:rPr lang="fr-FR" sz="2800" i="1" dirty="0" err="1">
                <a:solidFill>
                  <a:schemeClr val="tx1"/>
                </a:solidFill>
              </a:rPr>
              <a:t>numpy</a:t>
            </a:r>
            <a:r>
              <a:rPr lang="fr-FR" sz="2800" i="1" dirty="0">
                <a:solidFill>
                  <a:schemeClr val="tx1"/>
                </a:solidFill>
              </a:rPr>
              <a:t> as </a:t>
            </a:r>
            <a:r>
              <a:rPr lang="fr-FR" sz="2800" i="1" dirty="0" err="1">
                <a:solidFill>
                  <a:schemeClr val="tx1"/>
                </a:solidFill>
              </a:rPr>
              <a:t>np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</a:rPr>
              <a:t>import </a:t>
            </a:r>
            <a:r>
              <a:rPr lang="fr-FR" sz="2800" i="1" dirty="0" err="1">
                <a:solidFill>
                  <a:schemeClr val="tx1"/>
                </a:solidFill>
              </a:rPr>
              <a:t>matplotlib.pyplot</a:t>
            </a:r>
            <a:r>
              <a:rPr lang="fr-FR" sz="2800" i="1" dirty="0">
                <a:solidFill>
                  <a:schemeClr val="tx1"/>
                </a:solidFill>
              </a:rPr>
              <a:t> as </a:t>
            </a:r>
            <a:r>
              <a:rPr lang="fr-FR" sz="2800" i="1" dirty="0" err="1">
                <a:solidFill>
                  <a:schemeClr val="tx1"/>
                </a:solidFill>
              </a:rPr>
              <a:t>plt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 err="1">
                <a:solidFill>
                  <a:schemeClr val="tx1"/>
                </a:solidFill>
              </a:rPr>
              <a:t>from</a:t>
            </a:r>
            <a:r>
              <a:rPr lang="fr-FR" sz="2800" i="1" dirty="0">
                <a:solidFill>
                  <a:schemeClr val="tx1"/>
                </a:solidFill>
              </a:rPr>
              <a:t> </a:t>
            </a:r>
            <a:r>
              <a:rPr lang="fr-FR" sz="2800" i="1" dirty="0" err="1">
                <a:solidFill>
                  <a:schemeClr val="tx1"/>
                </a:solidFill>
              </a:rPr>
              <a:t>sklearn.preprocessing</a:t>
            </a:r>
            <a:r>
              <a:rPr lang="fr-FR" sz="2800" i="1" dirty="0">
                <a:solidFill>
                  <a:schemeClr val="tx1"/>
                </a:solidFill>
              </a:rPr>
              <a:t> import </a:t>
            </a:r>
            <a:r>
              <a:rPr lang="fr-FR" sz="2800" i="1" dirty="0" err="1">
                <a:solidFill>
                  <a:schemeClr val="tx1"/>
                </a:solidFill>
              </a:rPr>
              <a:t>PolynomialFeatures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en-US" sz="2900" i="1" dirty="0">
                <a:solidFill>
                  <a:schemeClr val="tx1"/>
                </a:solidFill>
              </a:rPr>
              <a:t>from </a:t>
            </a:r>
            <a:r>
              <a:rPr lang="en-US" sz="2900" i="1" dirty="0" err="1">
                <a:solidFill>
                  <a:schemeClr val="tx1"/>
                </a:solidFill>
              </a:rPr>
              <a:t>sklearn.linear_model</a:t>
            </a:r>
            <a:r>
              <a:rPr lang="en-US" sz="2900" i="1" dirty="0">
                <a:solidFill>
                  <a:schemeClr val="tx1"/>
                </a:solidFill>
              </a:rPr>
              <a:t> import </a:t>
            </a:r>
            <a:r>
              <a:rPr lang="en-US" sz="2900" i="1" dirty="0" err="1">
                <a:solidFill>
                  <a:schemeClr val="tx1"/>
                </a:solidFill>
              </a:rPr>
              <a:t>LinearRegression</a:t>
            </a:r>
            <a:endParaRPr lang="en-US" sz="2900" i="1" dirty="0">
              <a:solidFill>
                <a:schemeClr val="tx1"/>
              </a:solidFill>
            </a:endParaRPr>
          </a:p>
          <a:p>
            <a:r>
              <a:rPr lang="en-US" sz="2800" dirty="0"/>
              <a:t>from </a:t>
            </a:r>
            <a:r>
              <a:rPr lang="en-US" sz="2800" dirty="0" err="1"/>
              <a:t>sklearn.metrics</a:t>
            </a:r>
            <a:r>
              <a:rPr lang="en-US" sz="2800" dirty="0"/>
              <a:t> import r2_score</a:t>
            </a:r>
            <a:br>
              <a:rPr lang="en-US" sz="2800" dirty="0"/>
            </a:b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#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Load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dataset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data = </a:t>
            </a:r>
            <a:r>
              <a:rPr lang="fr-FR" sz="2800" i="1" dirty="0" err="1">
                <a:solidFill>
                  <a:schemeClr val="tx1"/>
                </a:solidFill>
              </a:rPr>
              <a:t>pd.read_csv</a:t>
            </a:r>
            <a:r>
              <a:rPr lang="fr-FR" sz="2800" i="1" dirty="0">
                <a:solidFill>
                  <a:schemeClr val="tx1"/>
                </a:solidFill>
              </a:rPr>
              <a:t>("Position_Salaries.csv")</a:t>
            </a:r>
          </a:p>
          <a:p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# Independent variable (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Level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) and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dependent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variable (Salary)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X = data[["</a:t>
            </a:r>
            <a:r>
              <a:rPr lang="fr-FR" sz="2800" i="1" dirty="0" err="1">
                <a:solidFill>
                  <a:schemeClr val="tx1"/>
                </a:solidFill>
              </a:rPr>
              <a:t>Level</a:t>
            </a:r>
            <a:r>
              <a:rPr lang="fr-FR" sz="2800" i="1" dirty="0">
                <a:solidFill>
                  <a:schemeClr val="tx1"/>
                </a:solidFill>
              </a:rPr>
              <a:t>"]].values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y = data["Salary"].values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BE0B5-EBBC-43BB-8D45-886E5CEC7DCD}"/>
              </a:ext>
            </a:extLst>
          </p:cNvPr>
          <p:cNvSpPr/>
          <p:nvPr/>
        </p:nvSpPr>
        <p:spPr>
          <a:xfrm>
            <a:off x="6538975" y="0"/>
            <a:ext cx="39488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Polynomial Regression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96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2929FF"/>
                </a:solidFill>
              </a:rPr>
              <a:t>Polynomial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85" y="1484243"/>
            <a:ext cx="11029119" cy="439162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Polynomial transformation (degree=4 for better curve fitting)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</a:rPr>
              <a:t>poly = </a:t>
            </a:r>
            <a:r>
              <a:rPr lang="en-US" sz="2800" dirty="0" err="1">
                <a:solidFill>
                  <a:schemeClr val="tx1"/>
                </a:solidFill>
              </a:rPr>
              <a:t>PolynomialFeatures</a:t>
            </a:r>
            <a:r>
              <a:rPr lang="en-US" sz="2800" dirty="0">
                <a:solidFill>
                  <a:schemeClr val="tx1"/>
                </a:solidFill>
              </a:rPr>
              <a:t>(degree=4)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poly.fit_transform</a:t>
            </a:r>
            <a:r>
              <a:rPr lang="en-US" sz="2800" dirty="0">
                <a:solidFill>
                  <a:schemeClr val="tx1"/>
                </a:solidFill>
              </a:rPr>
              <a:t>(X)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sz="2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Train polynomial regression model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poly_model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LinearRegression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poly_model.fit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, y)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sz="2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Predictions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y_pred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poly_model.predict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435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rgbClr val="2929FF"/>
                </a:solidFill>
              </a:rPr>
              <a:t>Draw the line….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41" y="1404731"/>
            <a:ext cx="11161641" cy="439162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Plot results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plt.scatter</a:t>
            </a:r>
            <a:r>
              <a:rPr lang="en-US" sz="2800" dirty="0">
                <a:solidFill>
                  <a:schemeClr val="tx1"/>
                </a:solidFill>
              </a:rPr>
              <a:t>(X, y, color="blue", label="Actual Data")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plt.plot</a:t>
            </a:r>
            <a:r>
              <a:rPr lang="en-US" sz="2800" dirty="0">
                <a:solidFill>
                  <a:schemeClr val="tx1"/>
                </a:solidFill>
              </a:rPr>
              <a:t>(X, </a:t>
            </a:r>
            <a:r>
              <a:rPr lang="en-US" sz="2800" dirty="0" err="1">
                <a:solidFill>
                  <a:schemeClr val="tx1"/>
                </a:solidFill>
              </a:rPr>
              <a:t>y_pred</a:t>
            </a:r>
            <a:r>
              <a:rPr lang="en-US" sz="2800" dirty="0">
                <a:solidFill>
                  <a:schemeClr val="tx1"/>
                </a:solidFill>
              </a:rPr>
              <a:t>, color="red", label="Polynomial Fit (deg=4)")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plt.xlabel</a:t>
            </a:r>
            <a:r>
              <a:rPr lang="en-US" sz="2800" dirty="0">
                <a:solidFill>
                  <a:schemeClr val="tx1"/>
                </a:solidFill>
              </a:rPr>
              <a:t>("Level")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plt.ylabel</a:t>
            </a:r>
            <a:r>
              <a:rPr lang="en-US" sz="2800" dirty="0">
                <a:solidFill>
                  <a:schemeClr val="tx1"/>
                </a:solidFill>
              </a:rPr>
              <a:t>("Salary")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plt.title</a:t>
            </a:r>
            <a:r>
              <a:rPr lang="en-US" sz="2800" dirty="0">
                <a:solidFill>
                  <a:schemeClr val="tx1"/>
                </a:solidFill>
              </a:rPr>
              <a:t>("Polynomial Regression")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plt.legend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plt.show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539EF-07D7-1ADD-93C9-A718B0695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992" y="4641574"/>
            <a:ext cx="2762008" cy="221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3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4B94-89ED-9ED4-0F63-B0FEBCEC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FB83E8-A152-A5A2-77A5-59930831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rgbClr val="2929FF"/>
                </a:solidFill>
              </a:rPr>
              <a:t>Draw the line….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38EA90-B42B-524C-B278-CF0885394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41" y="1404731"/>
            <a:ext cx="11161641" cy="4391625"/>
          </a:xfrm>
        </p:spPr>
        <p:txBody>
          <a:bodyPr>
            <a:no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# Calculate R2 score</a:t>
            </a:r>
          </a:p>
          <a:p>
            <a:r>
              <a:rPr lang="en-US" dirty="0"/>
              <a:t>r2 = r2_score(y, </a:t>
            </a:r>
            <a:r>
              <a:rPr lang="en-US" dirty="0" err="1"/>
              <a:t>y_pred</a:t>
            </a:r>
            <a:r>
              <a:rPr lang="en-US" dirty="0"/>
              <a:t>)</a:t>
            </a:r>
          </a:p>
          <a:p>
            <a:r>
              <a:rPr lang="en-US" dirty="0">
                <a:highlight>
                  <a:srgbClr val="FFFF00"/>
                </a:highlight>
              </a:rPr>
              <a:t># Display results</a:t>
            </a:r>
          </a:p>
          <a:p>
            <a:r>
              <a:rPr lang="en-US" dirty="0"/>
              <a:t>print("POLYNOMIAL REGRESSION METRIC:")</a:t>
            </a:r>
          </a:p>
          <a:p>
            <a:r>
              <a:rPr lang="en-US" dirty="0"/>
              <a:t>print(f"R² Score: {r2:.4f}")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DB87D-0D64-4031-0A22-7B1B0611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275" y="3232139"/>
            <a:ext cx="5806035" cy="119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9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36FF3-C184-0C6D-8F78-FA58E6DA7CCB}"/>
              </a:ext>
            </a:extLst>
          </p:cNvPr>
          <p:cNvSpPr txBox="1"/>
          <p:nvPr/>
        </p:nvSpPr>
        <p:spPr>
          <a:xfrm>
            <a:off x="1453183" y="2199865"/>
            <a:ext cx="97780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Predict whether a customer will </a:t>
            </a:r>
            <a:r>
              <a:rPr lang="en-US" sz="2400" b="1" dirty="0"/>
              <a:t>churn</a:t>
            </a:r>
            <a:r>
              <a:rPr lang="en-US" sz="2400" dirty="0"/>
              <a:t> (leave the company) based on their behavior and usage patterns.</a:t>
            </a:r>
          </a:p>
          <a:p>
            <a:pPr>
              <a:buNone/>
            </a:pPr>
            <a:r>
              <a:rPr lang="en-US" sz="2400" b="1" dirty="0"/>
              <a:t>Dataset:</a:t>
            </a:r>
            <a:r>
              <a:rPr lang="en-US" sz="2400" dirty="0"/>
              <a:t> Telco Customer Churn </a:t>
            </a:r>
          </a:p>
          <a:p>
            <a:pPr>
              <a:buNone/>
            </a:pPr>
            <a:r>
              <a:rPr lang="en-US" sz="2400" b="1" dirty="0"/>
              <a:t>Instructions: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Load dataset and preprocess categorical variables ( Encoding).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Train a </a:t>
            </a:r>
            <a:r>
              <a:rPr lang="en-US" sz="2400" b="1" dirty="0"/>
              <a:t>Logistic Regression model</a:t>
            </a:r>
            <a:r>
              <a:rPr lang="en-US" sz="2400" dirty="0"/>
              <a:t> with features like </a:t>
            </a:r>
            <a:r>
              <a:rPr lang="en-US" sz="2400" dirty="0">
                <a:latin typeface="Courier New" panose="02070309020205020404" pitchFamily="49" charset="0"/>
              </a:rPr>
              <a:t>tenure</a:t>
            </a:r>
            <a:r>
              <a:rPr lang="en-US" sz="2400" dirty="0"/>
              <a:t>, </a:t>
            </a:r>
            <a:r>
              <a:rPr lang="en-US" sz="2400" dirty="0" err="1">
                <a:latin typeface="Courier New" panose="02070309020205020404" pitchFamily="49" charset="0"/>
              </a:rPr>
              <a:t>MonthlyCharges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Contract</a:t>
            </a:r>
            <a:r>
              <a:rPr lang="en-US" sz="2400" dirty="0"/>
              <a:t>, </a:t>
            </a:r>
            <a:r>
              <a:rPr lang="en-US" sz="2400" dirty="0" err="1">
                <a:latin typeface="Courier New" panose="02070309020205020404" pitchFamily="49" charset="0"/>
              </a:rPr>
              <a:t>InternetService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Evaluate using </a:t>
            </a:r>
            <a:r>
              <a:rPr lang="en-US" sz="2400" b="1" dirty="0"/>
              <a:t>Accuracy, Precision, Recall, F1-score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Plot </a:t>
            </a:r>
            <a:r>
              <a:rPr lang="en-US" sz="2400" b="1" dirty="0"/>
              <a:t>Confusion Matrix &amp; ROC Curve</a:t>
            </a:r>
            <a:r>
              <a:rPr lang="en-US" sz="2400" dirty="0"/>
              <a:t>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F30EF02-C559-A3D8-8F89-0026B188A77A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1 </a:t>
            </a:r>
          </a:p>
        </p:txBody>
      </p:sp>
    </p:spTree>
    <p:extLst>
      <p:ext uri="{BB962C8B-B14F-4D97-AF65-F5344CB8AC3E}">
        <p14:creationId xmlns:p14="http://schemas.microsoft.com/office/powerpoint/2010/main" val="559465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47411-DD75-E0B4-E1C2-D9671173AFAE}"/>
              </a:ext>
            </a:extLst>
          </p:cNvPr>
          <p:cNvSpPr txBox="1"/>
          <p:nvPr/>
        </p:nvSpPr>
        <p:spPr>
          <a:xfrm>
            <a:off x="1328944" y="2258847"/>
            <a:ext cx="97134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Predict </a:t>
            </a:r>
            <a:r>
              <a:rPr lang="en-US" sz="2400" b="1" dirty="0"/>
              <a:t>used car prices</a:t>
            </a:r>
            <a:r>
              <a:rPr lang="en-US" sz="2400" dirty="0"/>
              <a:t> based on mileage, age, and horsepower.</a:t>
            </a:r>
          </a:p>
          <a:p>
            <a:pPr>
              <a:buNone/>
            </a:pPr>
            <a:r>
              <a:rPr lang="en-US" sz="2400" b="1" dirty="0"/>
              <a:t>Dataset:</a:t>
            </a:r>
            <a:r>
              <a:rPr lang="en-US" sz="2400" dirty="0"/>
              <a:t> Car Price Prediction </a:t>
            </a:r>
          </a:p>
          <a:p>
            <a:pPr>
              <a:buNone/>
            </a:pPr>
            <a:r>
              <a:rPr lang="en-US" sz="2400" b="1" dirty="0"/>
              <a:t>Instructions: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Choose features like </a:t>
            </a:r>
            <a:r>
              <a:rPr lang="en-US" sz="2400" dirty="0" err="1">
                <a:latin typeface="Courier New" panose="02070309020205020404" pitchFamily="49" charset="0"/>
              </a:rPr>
              <a:t>Kms_Driven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Year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Engine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Horsepower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Apply </a:t>
            </a:r>
            <a:r>
              <a:rPr lang="en-US" sz="2400" b="1" dirty="0"/>
              <a:t>Linear Regression</a:t>
            </a:r>
            <a:r>
              <a:rPr lang="en-US" sz="2400" dirty="0"/>
              <a:t> and record performance.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Apply </a:t>
            </a:r>
            <a:r>
              <a:rPr lang="en-US" sz="2400" b="1" dirty="0"/>
              <a:t>Polynomial Regression (degree=2,3,4)</a:t>
            </a:r>
            <a:r>
              <a:rPr lang="en-US" sz="2400" dirty="0"/>
              <a:t> and compare results.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Plot </a:t>
            </a:r>
            <a:r>
              <a:rPr lang="en-US" sz="2400" b="1" dirty="0"/>
              <a:t>fitted curves</a:t>
            </a:r>
            <a:r>
              <a:rPr lang="en-US" sz="2400" dirty="0"/>
              <a:t> for different polynomial degrees.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0BFB52-27D1-D568-B71E-557D6E356D18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2 </a:t>
            </a:r>
          </a:p>
        </p:txBody>
      </p:sp>
    </p:spTree>
    <p:extLst>
      <p:ext uri="{BB962C8B-B14F-4D97-AF65-F5344CB8AC3E}">
        <p14:creationId xmlns:p14="http://schemas.microsoft.com/office/powerpoint/2010/main" val="3853139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Austin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19190</TotalTime>
  <Words>1503</Words>
  <Application>Microsoft Office PowerPoint</Application>
  <PresentationFormat>Widescreen</PresentationFormat>
  <Paragraphs>171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Garamond</vt:lpstr>
      <vt:lpstr>Wingdings 2</vt:lpstr>
      <vt:lpstr>Organic</vt:lpstr>
      <vt:lpstr>Austin</vt:lpstr>
      <vt:lpstr>Machine Learning LAB </vt:lpstr>
      <vt:lpstr>Lab Contents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(Sklearn)</vt:lpstr>
      <vt:lpstr>Logistic Regression (Sklearn)</vt:lpstr>
      <vt:lpstr>Logistic Regression (Sklearn)</vt:lpstr>
      <vt:lpstr>PowerPoint Presentation</vt:lpstr>
      <vt:lpstr>Polynomial Regression</vt:lpstr>
      <vt:lpstr>Draw the line….</vt:lpstr>
      <vt:lpstr>Draw the line….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321</cp:revision>
  <dcterms:created xsi:type="dcterms:W3CDTF">2020-04-16T04:39:44Z</dcterms:created>
  <dcterms:modified xsi:type="dcterms:W3CDTF">2026-09-28T08:54:38Z</dcterms:modified>
</cp:coreProperties>
</file>