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9"/>
  </p:notesMasterIdLst>
  <p:sldIdLst>
    <p:sldId id="256" r:id="rId2"/>
    <p:sldId id="754" r:id="rId3"/>
    <p:sldId id="482" r:id="rId4"/>
    <p:sldId id="516" r:id="rId5"/>
    <p:sldId id="635" r:id="rId6"/>
    <p:sldId id="518" r:id="rId7"/>
    <p:sldId id="638" r:id="rId8"/>
    <p:sldId id="517" r:id="rId9"/>
    <p:sldId id="636" r:id="rId10"/>
    <p:sldId id="639" r:id="rId11"/>
    <p:sldId id="640" r:id="rId12"/>
    <p:sldId id="732" r:id="rId13"/>
    <p:sldId id="733" r:id="rId14"/>
    <p:sldId id="747" r:id="rId15"/>
    <p:sldId id="748" r:id="rId16"/>
    <p:sldId id="749" r:id="rId17"/>
    <p:sldId id="750" r:id="rId18"/>
    <p:sldId id="751" r:id="rId19"/>
    <p:sldId id="742" r:id="rId20"/>
    <p:sldId id="743" r:id="rId21"/>
    <p:sldId id="745" r:id="rId22"/>
    <p:sldId id="746" r:id="rId23"/>
    <p:sldId id="509" r:id="rId24"/>
    <p:sldId id="510" r:id="rId25"/>
    <p:sldId id="511" r:id="rId26"/>
    <p:sldId id="755" r:id="rId27"/>
    <p:sldId id="512" r:id="rId28"/>
    <p:sldId id="756" r:id="rId29"/>
    <p:sldId id="513" r:id="rId30"/>
    <p:sldId id="514" r:id="rId31"/>
    <p:sldId id="515" r:id="rId32"/>
    <p:sldId id="506" r:id="rId33"/>
    <p:sldId id="519" r:id="rId34"/>
    <p:sldId id="520" r:id="rId35"/>
    <p:sldId id="752" r:id="rId36"/>
    <p:sldId id="753" r:id="rId37"/>
    <p:sldId id="75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KNdgpnRz7U2JtniqEc6_A1coUbGKIt02#2" TargetMode="External"/><Relationship Id="rId7" Type="http://schemas.openxmlformats.org/officeDocument/2006/relationships/hyperlink" Target="https://colab.research.google.com/drive/1KNdgpnRz7U2JtniqEc6_A1coUbGKIt02#6" TargetMode="External"/><Relationship Id="rId2" Type="http://schemas.openxmlformats.org/officeDocument/2006/relationships/hyperlink" Target="https://colab.research.google.com/drive/1KNdgpnRz7U2JtniqEc6_A1coUbGKIt02#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KNdgpnRz7U2JtniqEc6_A1coUbGKIt02#5" TargetMode="External"/><Relationship Id="rId5" Type="http://schemas.openxmlformats.org/officeDocument/2006/relationships/hyperlink" Target="https://colab.research.google.com/drive/1KNdgpnRz7U2JtniqEc6_A1coUbGKIt02#4" TargetMode="External"/><Relationship Id="rId4" Type="http://schemas.openxmlformats.org/officeDocument/2006/relationships/hyperlink" Target="https://colab.research.google.com/drive/1KNdgpnRz7U2JtniqEc6_A1coUbGKIt02#3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lg-ulb/creditcardfraud?resource=download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avoneel/brain-mri-images-for-brain-tumor-detection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2329-7F44-3D4E-8659-D69072BE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B22D-516D-8E31-7B7D-5AB3AA788228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Topics to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DCEB-BA5F-E099-15FB-513000AB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KNN</a:t>
            </a:r>
          </a:p>
          <a:p>
            <a:r>
              <a:rPr lang="en-US" sz="3200" dirty="0"/>
              <a:t>SVM</a:t>
            </a:r>
          </a:p>
          <a:p>
            <a:r>
              <a:rPr lang="en-US" sz="3200" dirty="0"/>
              <a:t>Voting Classifier</a:t>
            </a:r>
          </a:p>
          <a:p>
            <a:r>
              <a:rPr lang="en-US" sz="3200" dirty="0"/>
              <a:t>K-mean clustering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40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KNN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Implementation of KNN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2356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9" y="300443"/>
            <a:ext cx="4822369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2929FF"/>
                </a:solidFill>
              </a:rPr>
              <a:t>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485451"/>
            <a:ext cx="9601196" cy="3318936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      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load_wine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2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9" y="300443"/>
            <a:ext cx="4822369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2929FF"/>
                </a:solidFill>
              </a:rPr>
              <a:t>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1523426"/>
            <a:ext cx="9925321" cy="3734374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# Load the Wine dataset</a:t>
            </a:r>
          </a:p>
          <a:p>
            <a:r>
              <a:rPr lang="en-US" dirty="0"/>
              <a:t>wine = </a:t>
            </a:r>
            <a:r>
              <a:rPr lang="en-US" dirty="0" err="1"/>
              <a:t>load_wine</a:t>
            </a:r>
            <a:r>
              <a:rPr lang="en-US" dirty="0"/>
              <a:t>()</a:t>
            </a:r>
          </a:p>
          <a:p>
            <a:r>
              <a:rPr lang="en-US" dirty="0"/>
              <a:t>X, y = </a:t>
            </a:r>
            <a:r>
              <a:rPr lang="en-US" dirty="0" err="1"/>
              <a:t>wine.data</a:t>
            </a:r>
            <a:r>
              <a:rPr lang="en-US" dirty="0"/>
              <a:t>, </a:t>
            </a:r>
            <a:r>
              <a:rPr lang="en-US" dirty="0" err="1"/>
              <a:t>wine.target</a:t>
            </a:r>
            <a:endParaRPr lang="en-US" dirty="0"/>
          </a:p>
          <a:p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# Split the data into training and test sets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0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300" y="1121832"/>
            <a:ext cx="11048997" cy="3318936"/>
          </a:xfrm>
        </p:spPr>
        <p:txBody>
          <a:bodyPr>
            <a:no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Define the k values to test</a:t>
            </a:r>
          </a:p>
          <a:p>
            <a:r>
              <a:rPr lang="en-US" sz="2800" dirty="0" err="1">
                <a:highlight>
                  <a:srgbClr val="FFFF00"/>
                </a:highlight>
              </a:rPr>
              <a:t>k_values</a:t>
            </a:r>
            <a:r>
              <a:rPr lang="en-US" sz="2800" dirty="0">
                <a:highlight>
                  <a:srgbClr val="FFFF00"/>
                </a:highlight>
              </a:rPr>
              <a:t> = [1, 3, 5, 7, 9]</a:t>
            </a:r>
          </a:p>
          <a:p>
            <a:r>
              <a:rPr lang="en-US" sz="2800" dirty="0">
                <a:highlight>
                  <a:srgbClr val="FFFF00"/>
                </a:highlight>
              </a:rPr>
              <a:t># Train a KNN classifier for each value of k and record the accuracy scores</a:t>
            </a:r>
          </a:p>
          <a:p>
            <a:r>
              <a:rPr lang="en-US" sz="2800" dirty="0" err="1"/>
              <a:t>accuracy_scores</a:t>
            </a:r>
            <a:r>
              <a:rPr lang="en-US" sz="2800" dirty="0"/>
              <a:t> = []</a:t>
            </a:r>
          </a:p>
          <a:p>
            <a:r>
              <a:rPr lang="en-US" sz="2800" dirty="0"/>
              <a:t>for k in </a:t>
            </a:r>
            <a:r>
              <a:rPr lang="en-US" sz="2800" dirty="0" err="1"/>
              <a:t>k_values</a:t>
            </a:r>
            <a:r>
              <a:rPr lang="en-US" sz="2800" dirty="0"/>
              <a:t>: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knn</a:t>
            </a:r>
            <a:r>
              <a:rPr lang="en-US" sz="2800" dirty="0"/>
              <a:t> = </a:t>
            </a:r>
            <a:r>
              <a:rPr lang="en-US" sz="2800" dirty="0" err="1"/>
              <a:t>KNeighborsClassifier</a:t>
            </a:r>
            <a:r>
              <a:rPr lang="en-US" sz="2800" dirty="0"/>
              <a:t>(</a:t>
            </a:r>
            <a:r>
              <a:rPr lang="en-US" sz="2800" dirty="0" err="1"/>
              <a:t>n_neighbors</a:t>
            </a:r>
            <a:r>
              <a:rPr lang="en-US" sz="2800" dirty="0"/>
              <a:t>=k)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knn.fit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/>
              <a:t>)</a:t>
            </a:r>
          </a:p>
          <a:p>
            <a:r>
              <a:rPr lang="en-US" sz="2800" dirty="0"/>
              <a:t>    accuracy = </a:t>
            </a:r>
            <a:r>
              <a:rPr lang="en-US" sz="2800" dirty="0" err="1"/>
              <a:t>knn.score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, </a:t>
            </a:r>
            <a:r>
              <a:rPr lang="en-US" sz="2800" dirty="0" err="1"/>
              <a:t>y_test</a:t>
            </a:r>
            <a:r>
              <a:rPr lang="en-US" sz="2800" dirty="0"/>
              <a:t>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accuracy_scores.append</a:t>
            </a:r>
            <a:r>
              <a:rPr lang="en-US" sz="2800" dirty="0"/>
              <a:t>(accuracy)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F629F8-4E75-4F6D-9976-5C4E7F3F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2282" y="447805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KNN for different values</a:t>
            </a:r>
          </a:p>
        </p:txBody>
      </p:sp>
    </p:spTree>
    <p:extLst>
      <p:ext uri="{BB962C8B-B14F-4D97-AF65-F5344CB8AC3E}">
        <p14:creationId xmlns:p14="http://schemas.microsoft.com/office/powerpoint/2010/main" val="418033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75" y="1769532"/>
            <a:ext cx="11048997" cy="3318936"/>
          </a:xfrm>
        </p:spPr>
        <p:txBody>
          <a:bodyPr>
            <a:no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Plot accuracy against k values</a:t>
            </a:r>
          </a:p>
          <a:p>
            <a:r>
              <a:rPr lang="en-US" sz="2800" dirty="0" err="1"/>
              <a:t>plt.scatter</a:t>
            </a:r>
            <a:r>
              <a:rPr lang="en-US" sz="2800" dirty="0"/>
              <a:t>(</a:t>
            </a:r>
            <a:r>
              <a:rPr lang="en-US" sz="2800" dirty="0" err="1"/>
              <a:t>k_values</a:t>
            </a:r>
            <a:r>
              <a:rPr lang="en-US" sz="2800" dirty="0"/>
              <a:t>, </a:t>
            </a:r>
            <a:r>
              <a:rPr lang="en-US" sz="2800" dirty="0" err="1"/>
              <a:t>accuracy_scores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plt.xlabel</a:t>
            </a:r>
            <a:r>
              <a:rPr lang="en-US" sz="2800" dirty="0"/>
              <a:t>("k")</a:t>
            </a:r>
          </a:p>
          <a:p>
            <a:r>
              <a:rPr lang="en-US" sz="2800" dirty="0" err="1"/>
              <a:t>plt.ylabel</a:t>
            </a:r>
            <a:r>
              <a:rPr lang="en-US" sz="2800" dirty="0"/>
              <a:t>("Accuracy")</a:t>
            </a:r>
          </a:p>
          <a:p>
            <a:r>
              <a:rPr lang="en-US" sz="2800" dirty="0" err="1"/>
              <a:t>plt.title</a:t>
            </a:r>
            <a:r>
              <a:rPr lang="en-US" sz="2800" dirty="0"/>
              <a:t>("Accuracy vs. k values")</a:t>
            </a:r>
          </a:p>
          <a:p>
            <a:r>
              <a:rPr lang="en-US" sz="2800" dirty="0" err="1"/>
              <a:t>plt.show</a:t>
            </a:r>
            <a:r>
              <a:rPr lang="en-US" sz="2800" dirty="0"/>
              <a:t>()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F629F8-4E75-4F6D-9976-5C4E7F3F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2282" y="447805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KNN for different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15249-2931-4289-8846-1899F93B9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649" y="1769532"/>
            <a:ext cx="4852151" cy="383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0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4732" y="0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KNN for different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238" y="825097"/>
            <a:ext cx="9601196" cy="3318936"/>
          </a:xfrm>
        </p:spPr>
        <p:txBody>
          <a:bodyPr>
            <a:noAutofit/>
          </a:bodyPr>
          <a:lstStyle/>
          <a:p>
            <a:r>
              <a:rPr lang="en-US" sz="1800" dirty="0" err="1"/>
              <a:t>k_values</a:t>
            </a:r>
            <a:r>
              <a:rPr lang="en-US" sz="1800" dirty="0"/>
              <a:t> = range(1, 30)</a:t>
            </a:r>
          </a:p>
          <a:p>
            <a:r>
              <a:rPr lang="en-US" sz="1800" dirty="0" err="1"/>
              <a:t>accuracy_scores</a:t>
            </a:r>
            <a:r>
              <a:rPr lang="en-US" sz="1800" dirty="0"/>
              <a:t> = []</a:t>
            </a:r>
          </a:p>
          <a:p>
            <a:pPr marL="0" indent="0">
              <a:buNone/>
            </a:pPr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# Apply KNN for different values of k</a:t>
            </a:r>
          </a:p>
          <a:p>
            <a:r>
              <a:rPr lang="en-US" sz="1800" dirty="0"/>
              <a:t>for k in </a:t>
            </a:r>
            <a:r>
              <a:rPr lang="en-US" sz="1800" dirty="0" err="1"/>
              <a:t>k_values</a:t>
            </a:r>
            <a:r>
              <a:rPr lang="en-US" sz="1800" dirty="0"/>
              <a:t>:</a:t>
            </a:r>
          </a:p>
          <a:p>
            <a:r>
              <a:rPr lang="en-US" sz="1800" dirty="0"/>
              <a:t>    </a:t>
            </a:r>
            <a:r>
              <a:rPr lang="en-US" sz="1800" dirty="0" err="1"/>
              <a:t>knn</a:t>
            </a:r>
            <a:r>
              <a:rPr lang="en-US" sz="1800" dirty="0"/>
              <a:t> = </a:t>
            </a:r>
            <a:r>
              <a:rPr lang="en-US" sz="1800" dirty="0" err="1"/>
              <a:t>KNeighborsClassifier</a:t>
            </a:r>
            <a:r>
              <a:rPr lang="en-US" sz="1800" dirty="0"/>
              <a:t>(</a:t>
            </a:r>
            <a:r>
              <a:rPr lang="en-US" sz="1800" dirty="0" err="1"/>
              <a:t>n_neighbors</a:t>
            </a:r>
            <a:r>
              <a:rPr lang="en-US" sz="1800" dirty="0"/>
              <a:t>=k)</a:t>
            </a:r>
          </a:p>
          <a:p>
            <a:r>
              <a:rPr lang="en-US" sz="1800" dirty="0"/>
              <a:t>    </a:t>
            </a:r>
            <a:r>
              <a:rPr lang="en-US" sz="1800" dirty="0" err="1"/>
              <a:t>knn.fit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)</a:t>
            </a:r>
          </a:p>
          <a:p>
            <a:r>
              <a:rPr lang="en-US" sz="1800" dirty="0"/>
              <a:t>    </a:t>
            </a:r>
            <a:r>
              <a:rPr lang="en-US" sz="1800" dirty="0" err="1"/>
              <a:t>y_pred</a:t>
            </a:r>
            <a:r>
              <a:rPr lang="en-US" sz="1800" dirty="0"/>
              <a:t> = </a:t>
            </a:r>
            <a:r>
              <a:rPr lang="en-US" sz="1800" dirty="0" err="1"/>
              <a:t>knn.predict</a:t>
            </a:r>
            <a:r>
              <a:rPr lang="en-US" sz="1800" dirty="0"/>
              <a:t>(</a:t>
            </a:r>
            <a:r>
              <a:rPr lang="en-US" sz="1800" dirty="0" err="1"/>
              <a:t>X_test</a:t>
            </a:r>
            <a:r>
              <a:rPr lang="en-US" sz="1800" dirty="0"/>
              <a:t>)</a:t>
            </a:r>
          </a:p>
          <a:p>
            <a:r>
              <a:rPr lang="en-US" sz="1800" dirty="0"/>
              <a:t>    accuracy = </a:t>
            </a:r>
            <a:r>
              <a:rPr lang="en-US" sz="1800" dirty="0" err="1"/>
              <a:t>accuracy_score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</a:t>
            </a:r>
            <a:r>
              <a:rPr lang="en-US" sz="1800" dirty="0" err="1"/>
              <a:t>y_pred</a:t>
            </a:r>
            <a:r>
              <a:rPr lang="en-US" sz="1800" dirty="0"/>
              <a:t>)</a:t>
            </a:r>
          </a:p>
          <a:p>
            <a:r>
              <a:rPr lang="en-US" sz="1800" dirty="0"/>
              <a:t>    </a:t>
            </a:r>
            <a:r>
              <a:rPr lang="en-US" sz="1800" dirty="0" err="1"/>
              <a:t>accuracy_scores.append</a:t>
            </a:r>
            <a:r>
              <a:rPr lang="en-US" sz="1800" dirty="0"/>
              <a:t>(accuracy)</a:t>
            </a:r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# Print the best value of k</a:t>
            </a:r>
          </a:p>
          <a:p>
            <a:r>
              <a:rPr lang="en-US" sz="1800" dirty="0" err="1"/>
              <a:t>best_k</a:t>
            </a:r>
            <a:r>
              <a:rPr lang="en-US" sz="1800" dirty="0"/>
              <a:t> = </a:t>
            </a:r>
            <a:r>
              <a:rPr lang="en-US" sz="1800" dirty="0" err="1"/>
              <a:t>k_values</a:t>
            </a:r>
            <a:r>
              <a:rPr lang="en-US" sz="1800" dirty="0"/>
              <a:t>[</a:t>
            </a:r>
            <a:r>
              <a:rPr lang="en-US" sz="1800" dirty="0" err="1"/>
              <a:t>accuracy_scores.index</a:t>
            </a:r>
            <a:r>
              <a:rPr lang="en-US" sz="1800" dirty="0"/>
              <a:t>(max(</a:t>
            </a:r>
            <a:r>
              <a:rPr lang="en-US" sz="1800" dirty="0" err="1"/>
              <a:t>accuracy_scores</a:t>
            </a:r>
            <a:r>
              <a:rPr lang="en-US" sz="1800" dirty="0"/>
              <a:t>))]</a:t>
            </a:r>
          </a:p>
          <a:p>
            <a:r>
              <a:rPr lang="en-US" sz="1800" dirty="0"/>
              <a:t>print("Best value of k:", </a:t>
            </a:r>
            <a:r>
              <a:rPr lang="en-US" sz="1800" dirty="0" err="1"/>
              <a:t>best_k</a:t>
            </a:r>
            <a:r>
              <a:rPr lang="en-US" sz="1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17876-D904-4858-AA71-FB97CF653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582" y="3184518"/>
            <a:ext cx="6243180" cy="113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4732" y="0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4000" b="1" dirty="0">
                <a:solidFill>
                  <a:srgbClr val="2929FF"/>
                </a:solidFill>
              </a:rPr>
              <a:t>Change p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13" y="526825"/>
            <a:ext cx="9601196" cy="3318936"/>
          </a:xfrm>
        </p:spPr>
        <p:txBody>
          <a:bodyPr>
            <a:noAutofit/>
          </a:bodyPr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load_wine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br>
              <a:rPr lang="en-US" dirty="0"/>
            </a:br>
            <a:r>
              <a:rPr lang="en-US" dirty="0"/>
              <a:t># Load the Wine dataset</a:t>
            </a:r>
          </a:p>
          <a:p>
            <a:r>
              <a:rPr lang="en-US" dirty="0"/>
              <a:t>wine = </a:t>
            </a:r>
            <a:r>
              <a:rPr lang="en-US" dirty="0" err="1"/>
              <a:t>load_wine</a:t>
            </a:r>
            <a:r>
              <a:rPr lang="en-US" dirty="0"/>
              <a:t>()</a:t>
            </a:r>
          </a:p>
          <a:p>
            <a:r>
              <a:rPr lang="en-US" dirty="0"/>
              <a:t>X, y = </a:t>
            </a:r>
            <a:r>
              <a:rPr lang="en-US" dirty="0" err="1"/>
              <a:t>wine.data</a:t>
            </a:r>
            <a:r>
              <a:rPr lang="en-US" dirty="0"/>
              <a:t>, </a:t>
            </a:r>
            <a:r>
              <a:rPr lang="en-US" dirty="0" err="1"/>
              <a:t>wine.target</a:t>
            </a:r>
            <a:br>
              <a:rPr lang="en-US" dirty="0"/>
            </a:br>
            <a:r>
              <a:rPr lang="en-US" dirty="0"/>
              <a:t># Split the data into training and test sets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36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4732" y="0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4000" b="1" dirty="0">
                <a:solidFill>
                  <a:srgbClr val="2929FF"/>
                </a:solidFill>
              </a:rPr>
              <a:t>Change p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6671" y="612550"/>
            <a:ext cx="9601196" cy="3318936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# Define the p values to test</a:t>
            </a:r>
          </a:p>
          <a:p>
            <a:r>
              <a:rPr lang="en-US" dirty="0" err="1"/>
              <a:t>p_values</a:t>
            </a:r>
            <a:r>
              <a:rPr lang="en-US" dirty="0"/>
              <a:t> = [1, 2, 3, 4, 5]</a:t>
            </a:r>
            <a:br>
              <a:rPr lang="en-US" dirty="0"/>
            </a:br>
            <a:r>
              <a:rPr lang="en-US" dirty="0"/>
              <a:t># Train a KNN classifier for each value of p and record the accuracy scores</a:t>
            </a:r>
          </a:p>
          <a:p>
            <a:r>
              <a:rPr lang="en-US" dirty="0" err="1"/>
              <a:t>accuracy_scores</a:t>
            </a:r>
            <a:r>
              <a:rPr lang="en-US" dirty="0"/>
              <a:t> = []</a:t>
            </a:r>
          </a:p>
          <a:p>
            <a:r>
              <a:rPr lang="en-US" dirty="0"/>
              <a:t>for p in </a:t>
            </a:r>
            <a:r>
              <a:rPr lang="en-US" dirty="0" err="1"/>
              <a:t>p_values</a:t>
            </a:r>
            <a:r>
              <a:rPr lang="en-US" dirty="0"/>
              <a:t>:</a:t>
            </a:r>
          </a:p>
          <a:p>
            <a:r>
              <a:rPr lang="en-US" dirty="0"/>
              <a:t>    </a:t>
            </a:r>
            <a:r>
              <a:rPr lang="en-US" dirty="0" err="1"/>
              <a:t>knn</a:t>
            </a:r>
            <a:r>
              <a:rPr lang="en-US" dirty="0"/>
              <a:t> = </a:t>
            </a:r>
            <a:r>
              <a:rPr lang="en-US" dirty="0" err="1"/>
              <a:t>KNeighborsClassifier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=5, p=p)  # Adjust </a:t>
            </a:r>
            <a:r>
              <a:rPr lang="en-US" dirty="0" err="1"/>
              <a:t>n_neighbors</a:t>
            </a:r>
            <a:r>
              <a:rPr lang="en-US" dirty="0"/>
              <a:t> as needed</a:t>
            </a:r>
          </a:p>
          <a:p>
            <a:r>
              <a:rPr lang="en-US" dirty="0"/>
              <a:t>    </a:t>
            </a:r>
            <a:r>
              <a:rPr lang="en-US" dirty="0" err="1"/>
              <a:t>knn.fit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r>
              <a:rPr lang="en-US" dirty="0"/>
              <a:t>    </a:t>
            </a:r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knn.predict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r>
              <a:rPr lang="en-US" dirty="0"/>
              <a:t>    accuracy =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</a:t>
            </a:r>
          </a:p>
          <a:p>
            <a:r>
              <a:rPr lang="en-US" dirty="0"/>
              <a:t>    </a:t>
            </a:r>
            <a:r>
              <a:rPr lang="en-US" dirty="0" err="1"/>
              <a:t>accuracy_scores.append</a:t>
            </a:r>
            <a:r>
              <a:rPr lang="en-US" dirty="0"/>
              <a:t>(accuracy)</a:t>
            </a:r>
          </a:p>
        </p:txBody>
      </p:sp>
    </p:spTree>
    <p:extLst>
      <p:ext uri="{BB962C8B-B14F-4D97-AF65-F5344CB8AC3E}">
        <p14:creationId xmlns:p14="http://schemas.microsoft.com/office/powerpoint/2010/main" val="353292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4732" y="0"/>
            <a:ext cx="5927268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4000" b="1" dirty="0">
                <a:solidFill>
                  <a:srgbClr val="2929FF"/>
                </a:solidFill>
              </a:rPr>
              <a:t>Change p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563" y="1012600"/>
            <a:ext cx="9601196" cy="3318936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# Print the accuracy scores for each p value</a:t>
            </a:r>
          </a:p>
          <a:p>
            <a:r>
              <a:rPr lang="en-US" dirty="0"/>
              <a:t>print("Accuracy scores for each p value:")</a:t>
            </a:r>
          </a:p>
          <a:p>
            <a:r>
              <a:rPr lang="en-US" dirty="0"/>
              <a:t>for p, accuracy in zip(</a:t>
            </a:r>
            <a:r>
              <a:rPr lang="en-US" dirty="0" err="1"/>
              <a:t>p_values</a:t>
            </a:r>
            <a:r>
              <a:rPr lang="en-US" dirty="0"/>
              <a:t>, </a:t>
            </a:r>
            <a:r>
              <a:rPr lang="en-US" dirty="0" err="1"/>
              <a:t>accuracy_scores</a:t>
            </a:r>
            <a:r>
              <a:rPr lang="en-US" dirty="0"/>
              <a:t>):</a:t>
            </a:r>
          </a:p>
          <a:p>
            <a:r>
              <a:rPr lang="en-US" dirty="0"/>
              <a:t>    print(</a:t>
            </a:r>
            <a:r>
              <a:rPr lang="en-US" dirty="0" err="1"/>
              <a:t>f"p</a:t>
            </a:r>
            <a:r>
              <a:rPr lang="en-US" dirty="0"/>
              <a:t>={p}: {accuracy}")</a:t>
            </a:r>
          </a:p>
          <a:p>
            <a:r>
              <a:rPr lang="en-US" dirty="0"/>
              <a:t>print()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F4449-933B-4369-9D9E-6924927F3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734629"/>
            <a:ext cx="3619545" cy="178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8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EDEC94-7245-4BA6-B602-6B4E8321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79" y="0"/>
            <a:ext cx="2960922" cy="71405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/>
              <a:t>SVM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80D4DE-ADB6-4B9B-B5C2-38F15C7E8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374" y="1024796"/>
            <a:ext cx="10873251" cy="350897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Support Vector Machine </a:t>
            </a:r>
            <a:r>
              <a:rPr lang="en-US" dirty="0"/>
              <a:t>(SVM) is a very powerful and versatile Machine Learning model, capable of performing linear or nonlinear classification, regression, and even outlier detection</a:t>
            </a:r>
          </a:p>
          <a:p>
            <a:r>
              <a:rPr lang="en-US" dirty="0"/>
              <a:t>You can think of an SVM classifier as fitting the widest possible street (represented by the parallel dashed lines) between the classes.</a:t>
            </a:r>
          </a:p>
          <a:p>
            <a:r>
              <a:rPr lang="en-US" dirty="0"/>
              <a:t>This is called </a:t>
            </a:r>
            <a:r>
              <a:rPr lang="en-US" i="1" dirty="0"/>
              <a:t>large margin classification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3D043-910E-4608-B889-ECCE4AEFD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1" y="3763970"/>
            <a:ext cx="5581395" cy="2952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CC7933-E6B4-4AA4-8C2B-C08187B00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426" y="3742689"/>
            <a:ext cx="5403574" cy="297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3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EDEC94-7245-4BA6-B602-6B4E8321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79" y="0"/>
            <a:ext cx="2960922" cy="71405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/>
              <a:t>SVM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80D4DE-ADB6-4B9B-B5C2-38F15C7E8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374" y="1024796"/>
            <a:ext cx="10873251" cy="3508977"/>
          </a:xfrm>
        </p:spPr>
        <p:txBody>
          <a:bodyPr/>
          <a:lstStyle/>
          <a:p>
            <a:r>
              <a:rPr lang="en-US" dirty="0"/>
              <a:t>Notice that adding more training instances “off the street” will not affect the decision boundary at all: it is fully determined (or “supported”) by the instances located on the</a:t>
            </a:r>
          </a:p>
          <a:p>
            <a:r>
              <a:rPr lang="en-US" dirty="0"/>
              <a:t>edge of the street. These instances are called the </a:t>
            </a:r>
            <a:r>
              <a:rPr lang="en-US" i="1" dirty="0"/>
              <a:t>support vectors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3D043-910E-4608-B889-ECCE4AEFD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3429000"/>
            <a:ext cx="6214660" cy="3287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CC7933-E6B4-4AA4-8C2B-C08187B00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917" y="3570715"/>
            <a:ext cx="5716083" cy="314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27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94830-E566-6718-AEF6-23870C062E95}"/>
              </a:ext>
            </a:extLst>
          </p:cNvPr>
          <p:cNvSpPr txBox="1"/>
          <p:nvPr/>
        </p:nvSpPr>
        <p:spPr>
          <a:xfrm>
            <a:off x="914400" y="857142"/>
            <a:ext cx="11976652" cy="5143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Import all relevant libraries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sklearn.svm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SVC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StandardScaler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preprocessing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cross_val_score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warnings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warnings.filterwarnings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"ignore"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226356-D81D-EE6A-D3BC-82AD42AA6052}"/>
              </a:ext>
            </a:extLst>
          </p:cNvPr>
          <p:cNvSpPr txBox="1">
            <a:spLocks/>
          </p:cNvSpPr>
          <p:nvPr/>
        </p:nvSpPr>
        <p:spPr>
          <a:xfrm>
            <a:off x="6386279" y="0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12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14ADCA-14A9-602E-3460-3B966020BBB3}"/>
              </a:ext>
            </a:extLst>
          </p:cNvPr>
          <p:cNvSpPr txBox="1"/>
          <p:nvPr/>
        </p:nvSpPr>
        <p:spPr>
          <a:xfrm>
            <a:off x="673375" y="1172208"/>
            <a:ext cx="7267989" cy="834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'/content/income_evaluation.csv'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6E828-60DB-E7B6-BA92-4D636CA91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02" y="2404618"/>
            <a:ext cx="10830503" cy="2604704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600A550-11ED-F85F-F414-1514CC29C166}"/>
              </a:ext>
            </a:extLst>
          </p:cNvPr>
          <p:cNvSpPr txBox="1">
            <a:spLocks/>
          </p:cNvSpPr>
          <p:nvPr/>
        </p:nvSpPr>
        <p:spPr>
          <a:xfrm>
            <a:off x="6386279" y="0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66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60313-8955-CAC4-10CE-66480E24E1D1}"/>
              </a:ext>
            </a:extLst>
          </p:cNvPr>
          <p:cNvSpPr txBox="1"/>
          <p:nvPr/>
        </p:nvSpPr>
        <p:spPr>
          <a:xfrm>
            <a:off x="809487" y="549022"/>
            <a:ext cx="11223762" cy="496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Identify categorical and numerical features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categorical_features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df.select_dtypes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(include=[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]).columns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numerical_features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df.select_dtypes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(exclude=[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]).columns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Apply one-hot encoding to categorical features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pd.get_dummies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columns=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categorical_features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drop_first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Separate features and target variable again after one-hot encoding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df.drop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"income_ &gt;50K"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axis=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Adjust target column name based on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get_dummies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output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"income_ &gt;50K"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 into training and testing sets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Scale numerical features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scaler = StandardScaler()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numerical_features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scaler.fit_transform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numerical_features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numerical_features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scaler.transform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numerical_features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display(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BFE95-6077-3844-3930-922E1B6FE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806" y="5729039"/>
            <a:ext cx="5686624" cy="1159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38CB1-2E45-9892-B15E-1DF7661E0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694" y="5729039"/>
            <a:ext cx="3272735" cy="1159878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6E9FD6B0-876C-A302-ABB9-A4642D0D246B}"/>
              </a:ext>
            </a:extLst>
          </p:cNvPr>
          <p:cNvSpPr txBox="1">
            <a:spLocks/>
          </p:cNvSpPr>
          <p:nvPr/>
        </p:nvSpPr>
        <p:spPr>
          <a:xfrm>
            <a:off x="9727660" y="0"/>
            <a:ext cx="2464340" cy="549022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8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125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C23539-14A9-B9DF-0E68-7D7993E10A6A}"/>
              </a:ext>
            </a:extLst>
          </p:cNvPr>
          <p:cNvSpPr txBox="1"/>
          <p:nvPr/>
        </p:nvSpPr>
        <p:spPr>
          <a:xfrm>
            <a:off x="1342417" y="1575881"/>
            <a:ext cx="8798667" cy="209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svc = SVC(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svc.fit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X_train,y_train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accuracies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cross_val_score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svc,X_train,y_train,cv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 Score:"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(accuracies))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Score:"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svc.score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X_test,y_test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5D2B1-BECA-F66F-1D22-FDB68E829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99" y="4470525"/>
            <a:ext cx="7077126" cy="1328393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A06BC75B-27E0-7016-3343-95087E747371}"/>
              </a:ext>
            </a:extLst>
          </p:cNvPr>
          <p:cNvSpPr txBox="1">
            <a:spLocks/>
          </p:cNvSpPr>
          <p:nvPr/>
        </p:nvSpPr>
        <p:spPr>
          <a:xfrm>
            <a:off x="6386279" y="0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5629A3-B05A-3B9D-945F-B94AC7CE82C5}"/>
              </a:ext>
            </a:extLst>
          </p:cNvPr>
          <p:cNvSpPr txBox="1"/>
          <p:nvPr/>
        </p:nvSpPr>
        <p:spPr>
          <a:xfrm>
            <a:off x="836580" y="90763"/>
            <a:ext cx="12821053" cy="6767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{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'C'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'kernel'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"linear"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"poly"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rbf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"sigmoid"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'degree'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'gamma'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= SVC ()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svm_cv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grid, cv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svm_cv.fit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X_train,y_train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Parameters:"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svm_cv.best_params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 Score:"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svm_cv.best_score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Score:"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svm_cv.score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X_test,y_test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681DC3-6B32-510E-0FA7-E77C48C627C4}"/>
              </a:ext>
            </a:extLst>
          </p:cNvPr>
          <p:cNvSpPr txBox="1">
            <a:spLocks/>
          </p:cNvSpPr>
          <p:nvPr/>
        </p:nvSpPr>
        <p:spPr>
          <a:xfrm>
            <a:off x="9231078" y="90763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Tunning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55604-4226-BC7E-8DC3-3F564FBCF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42" y="3420879"/>
            <a:ext cx="4045158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66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dirty="0"/>
              <a:t>Suppose you have trained a few classifiers, each one achieving about 80% accuracy. You may have a Logistic Regression classifier, an SVM classifier, a Random Forest classifier, a K-Nearest Neighbors classifier, and perhaps a few more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C583C-3BC9-4280-A880-3DCAD7F70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374" y="3313407"/>
            <a:ext cx="5681869" cy="30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55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dirty="0"/>
              <a:t>A very simple way to create an even better classifier is to aggregate the predictions of each classifier and predict the class that gets the most votes. This majority-vote classifier is called a </a:t>
            </a:r>
            <a:r>
              <a:rPr lang="en-US" i="1" dirty="0"/>
              <a:t>hard voting </a:t>
            </a:r>
            <a:r>
              <a:rPr lang="en-US" dirty="0"/>
              <a:t>classifier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A7B24-B19D-46CE-83D2-DB9AA5987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555" y="2981739"/>
            <a:ext cx="6147311" cy="331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88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233" y="1202114"/>
            <a:ext cx="9741134" cy="4453772"/>
          </a:xfrm>
        </p:spPr>
        <p:txBody>
          <a:bodyPr>
            <a:noAutofit/>
          </a:bodyPr>
          <a:lstStyle/>
          <a:p>
            <a:r>
              <a:rPr lang="en-US" sz="2000" dirty="0"/>
              <a:t>from </a:t>
            </a:r>
            <a:r>
              <a:rPr lang="en-US" sz="2000" dirty="0" err="1"/>
              <a:t>sklearn.ensemble</a:t>
            </a:r>
            <a:r>
              <a:rPr lang="en-US" sz="2000" dirty="0"/>
              <a:t> import </a:t>
            </a:r>
            <a:r>
              <a:rPr lang="en-US" sz="2000" dirty="0" err="1"/>
              <a:t>RandomForestClassifier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sklearn.ensemble</a:t>
            </a:r>
            <a:r>
              <a:rPr lang="en-US" sz="2000" dirty="0"/>
              <a:t> import </a:t>
            </a:r>
            <a:r>
              <a:rPr lang="en-US" sz="2000" dirty="0" err="1"/>
              <a:t>VotingClassifier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sklearn.linear_model</a:t>
            </a:r>
            <a:r>
              <a:rPr lang="en-US" sz="2000" dirty="0"/>
              <a:t> import </a:t>
            </a:r>
            <a:r>
              <a:rPr lang="en-US" sz="2000" dirty="0" err="1"/>
              <a:t>LogisticRegression</a:t>
            </a:r>
            <a:endParaRPr lang="en-US" sz="2000" dirty="0"/>
          </a:p>
          <a:p>
            <a:r>
              <a:rPr lang="en-US" sz="2000" dirty="0"/>
              <a:t>from </a:t>
            </a:r>
            <a:r>
              <a:rPr lang="en-US" sz="2000" dirty="0" err="1"/>
              <a:t>sklearn.svm</a:t>
            </a:r>
            <a:r>
              <a:rPr lang="en-US" sz="2000" dirty="0"/>
              <a:t> import SVC</a:t>
            </a:r>
          </a:p>
          <a:p>
            <a:r>
              <a:rPr lang="en-US" sz="2000" dirty="0" err="1"/>
              <a:t>log_clf</a:t>
            </a:r>
            <a:r>
              <a:rPr lang="en-US" sz="2000" dirty="0"/>
              <a:t> = </a:t>
            </a:r>
            <a:r>
              <a:rPr lang="en-US" sz="2000" dirty="0" err="1"/>
              <a:t>LogisticRegression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rnd_clf</a:t>
            </a:r>
            <a:r>
              <a:rPr lang="en-US" sz="2000" dirty="0"/>
              <a:t> = </a:t>
            </a:r>
            <a:r>
              <a:rPr lang="en-US" sz="2000" dirty="0" err="1"/>
              <a:t>RandomForestClassifier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svm_clf</a:t>
            </a:r>
            <a:r>
              <a:rPr lang="en-US" sz="2000" dirty="0"/>
              <a:t> = SVC()</a:t>
            </a:r>
          </a:p>
          <a:p>
            <a:r>
              <a:rPr lang="en-US" sz="2000" dirty="0" err="1"/>
              <a:t>voting_clf</a:t>
            </a:r>
            <a:r>
              <a:rPr lang="en-US" sz="2000" dirty="0"/>
              <a:t> = </a:t>
            </a:r>
            <a:r>
              <a:rPr lang="en-US" sz="2000" dirty="0" err="1"/>
              <a:t>VotingClassifier</a:t>
            </a:r>
            <a:r>
              <a:rPr lang="en-US" sz="2000" dirty="0"/>
              <a:t>(</a:t>
            </a:r>
          </a:p>
          <a:p>
            <a:r>
              <a:rPr lang="en-US" sz="2000" dirty="0"/>
              <a:t>estimators=[('</a:t>
            </a:r>
            <a:r>
              <a:rPr lang="en-US" sz="2000" dirty="0" err="1"/>
              <a:t>lr</a:t>
            </a:r>
            <a:r>
              <a:rPr lang="en-US" sz="2000" dirty="0"/>
              <a:t>', </a:t>
            </a:r>
            <a:r>
              <a:rPr lang="en-US" sz="2000" dirty="0" err="1"/>
              <a:t>log_clf</a:t>
            </a:r>
            <a:r>
              <a:rPr lang="en-US" sz="2000" dirty="0"/>
              <a:t>), ('rf', </a:t>
            </a:r>
            <a:r>
              <a:rPr lang="en-US" sz="2000" dirty="0" err="1"/>
              <a:t>rnd_clf</a:t>
            </a:r>
            <a:r>
              <a:rPr lang="en-US" sz="2000" dirty="0"/>
              <a:t>), ('svc', </a:t>
            </a:r>
            <a:r>
              <a:rPr lang="en-US" sz="2000" dirty="0" err="1"/>
              <a:t>svm_clf</a:t>
            </a:r>
            <a:r>
              <a:rPr lang="en-US" sz="2000" dirty="0"/>
              <a:t>)], voting='hard’ )</a:t>
            </a:r>
          </a:p>
          <a:p>
            <a:r>
              <a:rPr lang="en-US" sz="2000" dirty="0" err="1"/>
              <a:t>voting_clf.fit</a:t>
            </a:r>
            <a:r>
              <a:rPr lang="en-US" sz="2000" dirty="0"/>
              <a:t>(</a:t>
            </a:r>
            <a:r>
              <a:rPr lang="en-US" sz="2000" dirty="0" err="1"/>
              <a:t>X_train</a:t>
            </a:r>
            <a:r>
              <a:rPr lang="en-US" sz="2000" dirty="0"/>
              <a:t>, </a:t>
            </a:r>
            <a:r>
              <a:rPr lang="en-US" sz="2000" dirty="0" err="1"/>
              <a:t>y_train</a:t>
            </a:r>
            <a:r>
              <a:rPr lang="en-US" sz="2000" dirty="0"/>
              <a:t>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voting_clf.predict</a:t>
            </a:r>
            <a:r>
              <a:rPr lang="en-US" sz="2000" dirty="0"/>
              <a:t>([</a:t>
            </a:r>
            <a:r>
              <a:rPr lang="en-US" sz="2000" dirty="0" err="1"/>
              <a:t>some_digit</a:t>
            </a:r>
            <a:r>
              <a:rPr lang="en-US" sz="2000" dirty="0"/>
              <a:t>]))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</p:spTree>
    <p:extLst>
      <p:ext uri="{BB962C8B-B14F-4D97-AF65-F5344CB8AC3E}">
        <p14:creationId xmlns:p14="http://schemas.microsoft.com/office/powerpoint/2010/main" val="2160088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A300-2399-4B6F-8ECA-312E0B13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378858"/>
            <a:ext cx="9741134" cy="4453772"/>
          </a:xfrm>
        </p:spPr>
        <p:txBody>
          <a:bodyPr>
            <a:noAutofit/>
          </a:bodyPr>
          <a:lstStyle/>
          <a:p>
            <a:r>
              <a:rPr lang="en-US" sz="2800" dirty="0"/>
              <a:t>from </a:t>
            </a:r>
            <a:r>
              <a:rPr lang="en-US" sz="2800" dirty="0" err="1"/>
              <a:t>sklearn.metrics</a:t>
            </a:r>
            <a:r>
              <a:rPr lang="en-US" sz="2800" dirty="0"/>
              <a:t> import </a:t>
            </a:r>
            <a:r>
              <a:rPr lang="en-US" sz="2800" dirty="0" err="1"/>
              <a:t>accuracy_score</a:t>
            </a:r>
            <a:endParaRPr lang="en-US" sz="2800" dirty="0"/>
          </a:p>
          <a:p>
            <a:r>
              <a:rPr lang="en-US" sz="2800" dirty="0"/>
              <a:t>for </a:t>
            </a:r>
            <a:r>
              <a:rPr lang="en-US" sz="2800" dirty="0" err="1"/>
              <a:t>clf</a:t>
            </a:r>
            <a:r>
              <a:rPr lang="en-US" sz="2800" dirty="0"/>
              <a:t> in (</a:t>
            </a:r>
            <a:r>
              <a:rPr lang="en-US" sz="2800" dirty="0" err="1"/>
              <a:t>log_clf</a:t>
            </a:r>
            <a:r>
              <a:rPr lang="en-US" sz="2800" dirty="0"/>
              <a:t>, </a:t>
            </a:r>
            <a:r>
              <a:rPr lang="en-US" sz="2800" dirty="0" err="1"/>
              <a:t>rnd_clf</a:t>
            </a:r>
            <a:r>
              <a:rPr lang="en-US" sz="2800" dirty="0"/>
              <a:t>, </a:t>
            </a:r>
            <a:r>
              <a:rPr lang="en-US" sz="2800" dirty="0" err="1"/>
              <a:t>svm_clf</a:t>
            </a:r>
            <a:r>
              <a:rPr lang="en-US" sz="2800" dirty="0"/>
              <a:t>, </a:t>
            </a:r>
            <a:r>
              <a:rPr lang="en-US" sz="2800" dirty="0" err="1"/>
              <a:t>voting_clf</a:t>
            </a:r>
            <a:r>
              <a:rPr lang="en-US" sz="2800" dirty="0"/>
              <a:t>):</a:t>
            </a:r>
          </a:p>
          <a:p>
            <a:r>
              <a:rPr lang="en-US" sz="2800" dirty="0"/>
              <a:t>  </a:t>
            </a:r>
            <a:r>
              <a:rPr lang="en-US" sz="2800" dirty="0" err="1"/>
              <a:t>clf.fit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, </a:t>
            </a:r>
            <a:r>
              <a:rPr lang="en-US" sz="2800" dirty="0" err="1"/>
              <a:t>y_train</a:t>
            </a:r>
            <a:r>
              <a:rPr lang="en-US" sz="2800" dirty="0"/>
              <a:t>)</a:t>
            </a:r>
          </a:p>
          <a:p>
            <a:r>
              <a:rPr lang="en-US" sz="2800" dirty="0"/>
              <a:t>  </a:t>
            </a:r>
            <a:r>
              <a:rPr lang="en-US" sz="2800" dirty="0" err="1"/>
              <a:t>y_pred</a:t>
            </a:r>
            <a:r>
              <a:rPr lang="en-US" sz="2800" dirty="0"/>
              <a:t> = </a:t>
            </a:r>
            <a:r>
              <a:rPr lang="en-US" sz="2800" dirty="0" err="1"/>
              <a:t>clf.predict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r>
              <a:rPr lang="en-US" sz="2800" dirty="0"/>
              <a:t>  print(</a:t>
            </a:r>
            <a:r>
              <a:rPr lang="en-US" sz="2800" dirty="0" err="1"/>
              <a:t>clf</a:t>
            </a:r>
            <a:r>
              <a:rPr lang="en-US" sz="2800" dirty="0"/>
              <a:t>.__</a:t>
            </a:r>
            <a:r>
              <a:rPr lang="en-US" sz="2800" dirty="0" err="1"/>
              <a:t>class__.__name</a:t>
            </a:r>
            <a:r>
              <a:rPr lang="en-US" sz="2800" dirty="0"/>
              <a:t>__, </a:t>
            </a:r>
            <a:r>
              <a:rPr lang="en-US" sz="2800" dirty="0" err="1"/>
              <a:t>accuracy_score</a:t>
            </a:r>
            <a:r>
              <a:rPr lang="en-US" sz="2800" dirty="0"/>
              <a:t>(</a:t>
            </a:r>
            <a:r>
              <a:rPr lang="en-US" sz="2800" dirty="0" err="1"/>
              <a:t>y_test</a:t>
            </a:r>
            <a:r>
              <a:rPr lang="en-US" sz="2800" dirty="0"/>
              <a:t>, </a:t>
            </a:r>
            <a:r>
              <a:rPr lang="en-US" sz="2800" dirty="0" err="1"/>
              <a:t>y_pred</a:t>
            </a:r>
            <a:r>
              <a:rPr lang="en-US" sz="2800" dirty="0"/>
              <a:t>))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17C42-7EB4-45E3-9B7B-B06B8020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3" y="389035"/>
            <a:ext cx="9366325" cy="844679"/>
          </a:xfrm>
        </p:spPr>
        <p:txBody>
          <a:bodyPr>
            <a:normAutofit/>
          </a:bodyPr>
          <a:lstStyle/>
          <a:p>
            <a:r>
              <a:rPr lang="en-US" sz="4400" dirty="0"/>
              <a:t>Voting Classifiers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4B2EB-4F4F-453F-8A72-AE860448E7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8" b="9653"/>
          <a:stretch/>
        </p:blipFill>
        <p:spPr>
          <a:xfrm>
            <a:off x="4105071" y="4564404"/>
            <a:ext cx="6591957" cy="126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7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4" y="1877659"/>
            <a:ext cx="10709369" cy="4144316"/>
          </a:xfrm>
        </p:spPr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1 - Imports</a:t>
            </a:r>
            <a:endParaRPr lang="en-US" dirty="0"/>
          </a:p>
          <a:p>
            <a:r>
              <a:rPr lang="en-US" dirty="0">
                <a:hlinkClick r:id="rId3"/>
              </a:rPr>
              <a:t>2 - Loading the data</a:t>
            </a:r>
            <a:endParaRPr lang="en-US" dirty="0"/>
          </a:p>
          <a:p>
            <a:r>
              <a:rPr lang="en-US" dirty="0">
                <a:hlinkClick r:id="rId4"/>
              </a:rPr>
              <a:t>3 - Exploratory Analysis</a:t>
            </a:r>
            <a:endParaRPr lang="en-US" dirty="0"/>
          </a:p>
          <a:p>
            <a:r>
              <a:rPr lang="en-US" dirty="0">
                <a:hlinkClick r:id="rId5"/>
              </a:rPr>
              <a:t>4 - Preprocessing the data</a:t>
            </a:r>
            <a:endParaRPr lang="en-US" dirty="0"/>
          </a:p>
          <a:p>
            <a:r>
              <a:rPr lang="en-US" dirty="0">
                <a:hlinkClick r:id="rId6"/>
              </a:rPr>
              <a:t>5 - </a:t>
            </a:r>
            <a:r>
              <a:rPr lang="en-US" dirty="0" err="1">
                <a:hlinkClick r:id="rId6"/>
              </a:rPr>
              <a:t>Trainin</a:t>
            </a:r>
            <a:r>
              <a:rPr lang="en-US" dirty="0">
                <a:hlinkClick r:id="rId6"/>
              </a:rPr>
              <a:t> K-Means Clustering to Find Clusters</a:t>
            </a:r>
            <a:endParaRPr lang="en-US" dirty="0"/>
          </a:p>
          <a:p>
            <a:r>
              <a:rPr lang="en-US" dirty="0">
                <a:hlinkClick r:id="rId7"/>
              </a:rPr>
              <a:t>6 - Evaluating K-Means Clustering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1F1F8-B65D-5550-442C-FD52D06F6D7C}"/>
              </a:ext>
            </a:extLst>
          </p:cNvPr>
          <p:cNvSpPr txBox="1">
            <a:spLocks/>
          </p:cNvSpPr>
          <p:nvPr/>
        </p:nvSpPr>
        <p:spPr>
          <a:xfrm>
            <a:off x="2499006" y="501578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0" lang="en-US" sz="44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/>
                <a:ea typeface="+mj-ea"/>
                <a:cs typeface="+mj-cs"/>
              </a:rPr>
              <a:t>K-Means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91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06" y="481966"/>
            <a:ext cx="7941195" cy="10058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IMPORTS AND DATA LOADING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75717" y="1521015"/>
            <a:ext cx="10833683" cy="388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LabelEncoder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sklearn.cluster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KMeans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sklearn.decomposition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1: Load the dataset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data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"/content/mushroomss.csv"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Display first few rows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"Dataset Preview:"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data.head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Step 2: Check for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nMissing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Values in Each Column:"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data.isnull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().</a:t>
            </a: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086" y="2697891"/>
            <a:ext cx="10428514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"Dataset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shape: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mushroom_data.shape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"Target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distribution:\n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value_counts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()}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C5D31-D9C7-DAD4-DCD7-88B3F7FE0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777" y="4212634"/>
            <a:ext cx="3279823" cy="150187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7C2C543-830C-569F-ED90-794B84B31B5F}"/>
              </a:ext>
            </a:extLst>
          </p:cNvPr>
          <p:cNvSpPr txBox="1">
            <a:spLocks/>
          </p:cNvSpPr>
          <p:nvPr/>
        </p:nvSpPr>
        <p:spPr>
          <a:xfrm>
            <a:off x="2194206" y="48196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50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BCE-2E87-467F-0749-09F30C78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9AB4-26D6-77F8-F357-6DF323A38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43" y="2529213"/>
            <a:ext cx="10834914" cy="3906454"/>
          </a:xfrm>
          <a:noFill/>
        </p:spPr>
        <p:txBody>
          <a:bodyPr wrap="square">
            <a:spAutoFit/>
          </a:bodyPr>
          <a:lstStyle/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=(15, 10))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(2, 3, 1)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('Target Distribution')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(2, 3, 2)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x='cap-shape', hue='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('Cap Shape vs 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'cap-color'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'Cap Color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defTabSz="914400"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BD5416-13A3-B54A-1C31-FF5A631604C2}"/>
              </a:ext>
            </a:extLst>
          </p:cNvPr>
          <p:cNvSpPr txBox="1">
            <a:spLocks/>
          </p:cNvSpPr>
          <p:nvPr/>
        </p:nvSpPr>
        <p:spPr>
          <a:xfrm>
            <a:off x="2232707" y="1131145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BDD04E5-9013-CDD1-3454-D561BF93E257}"/>
              </a:ext>
            </a:extLst>
          </p:cNvPr>
          <p:cNvSpPr txBox="1"/>
          <p:nvPr/>
        </p:nvSpPr>
        <p:spPr>
          <a:xfrm>
            <a:off x="1076826" y="1199015"/>
            <a:ext cx="8902700" cy="388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'Population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'Habitat Distribution'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plt.subplot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sns.countplot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(data=</a:t>
            </a: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x=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hue=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class’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'Odor vs </a:t>
            </a:r>
            <a:r>
              <a:rPr lang="en-US" sz="1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plt.tight_layout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930BD36-00E4-9FCC-544A-8E79280243F3}"/>
              </a:ext>
            </a:extLst>
          </p:cNvPr>
          <p:cNvSpPr txBox="1">
            <a:spLocks/>
          </p:cNvSpPr>
          <p:nvPr/>
        </p:nvSpPr>
        <p:spPr>
          <a:xfrm>
            <a:off x="3858307" y="0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11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9A36E1F-4A60-7593-350A-3DB5918DE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1253296"/>
            <a:ext cx="8429746" cy="56047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550207" y="84896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44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637" y="2151932"/>
            <a:ext cx="1275060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 Handle missing values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mushroom_data.dropna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Separate features and target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mushroom_df.drop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axis=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class'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Encode categorical features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encoder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OrdinalEncoder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encoder.fit_transform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mushroom_prep_df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pd.DataFrame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mushroom_prepared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columns=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mushroom_features.columns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3130C8-E69C-2976-EF3E-68BADB56398F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DATA PREPROCESSING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9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007" y="2556932"/>
            <a:ext cx="9601196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Create and fit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model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mushroom_prep_df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Get results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k_clust.labels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50BF59-283D-899F-AB77-02A12633EDBD}"/>
              </a:ext>
            </a:extLst>
          </p:cNvPr>
          <p:cNvSpPr txBox="1">
            <a:spLocks/>
          </p:cNvSpPr>
          <p:nvPr/>
        </p:nvSpPr>
        <p:spPr>
          <a:xfrm>
            <a:off x="2213457" y="71725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IMPLEMENTATION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0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15" y="2171920"/>
            <a:ext cx="10709369" cy="3318936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# Map true labels to numerical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mushroom_labels.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accuracy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k_labels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"KMeans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Accuracy: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{accuracy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D65DD-A3E8-2BB6-775E-FCEA37D9B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0" b="97851"/>
          <a:stretch>
            <a:fillRect/>
          </a:stretch>
        </p:blipFill>
        <p:spPr>
          <a:xfrm>
            <a:off x="1117273" y="5111015"/>
            <a:ext cx="4978727" cy="3798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F9EB84-B672-2077-FDAF-06CC40CB945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MODEL EVALUATION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22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2" y="563032"/>
            <a:ext cx="9601196" cy="1303867"/>
          </a:xfrm>
        </p:spPr>
        <p:txBody>
          <a:bodyPr/>
          <a:lstStyle/>
          <a:p>
            <a:r>
              <a:rPr lang="en-US" dirty="0"/>
              <a:t>Preprocessing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1D97D-E70D-0A86-E91F-9E654E586F85}"/>
              </a:ext>
            </a:extLst>
          </p:cNvPr>
          <p:cNvSpPr txBox="1"/>
          <p:nvPr/>
        </p:nvSpPr>
        <p:spPr>
          <a:xfrm>
            <a:off x="971552" y="2402840"/>
            <a:ext cx="7734300" cy="352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plt.figure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=(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cm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sns.heatmap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(cm,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annot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fmt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'd'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cmap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'Blues’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0'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'Cluster 1’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yticklabels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'Poisonous’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'Confusion Matrix'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plt.xlabel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'Predicted Clusters'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'True Labels'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plt.show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Classification report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urier New" panose="02070309020205020404" pitchFamily="49" charset="0"/>
              </a:rPr>
              <a:t>nClassification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 Report:"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classification_report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true_labels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k_labels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'Edible'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'Poisonous'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9055B5-116F-AE96-98ED-64C2AE6D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6"/>
          <a:stretch>
            <a:fillRect/>
          </a:stretch>
        </p:blipFill>
        <p:spPr>
          <a:xfrm>
            <a:off x="8217773" y="2705100"/>
            <a:ext cx="3885327" cy="40513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ADD5716-7567-FC8E-A91D-89252F820F4C}"/>
              </a:ext>
            </a:extLst>
          </p:cNvPr>
          <p:cNvSpPr txBox="1">
            <a:spLocks/>
          </p:cNvSpPr>
          <p:nvPr/>
        </p:nvSpPr>
        <p:spPr>
          <a:xfrm>
            <a:off x="2416657" y="711199"/>
            <a:ext cx="7941195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Confusion matrix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85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0BF22-4151-6987-6041-2162B2D789A7}"/>
              </a:ext>
            </a:extLst>
          </p:cNvPr>
          <p:cNvSpPr txBox="1"/>
          <p:nvPr/>
        </p:nvSpPr>
        <p:spPr>
          <a:xfrm>
            <a:off x="1137202" y="996139"/>
            <a:ext cx="11054798" cy="604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sklearn.cluster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sklearn.decomposition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PCA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1: Load the dataset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"/content/mushroomss.csv"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Display first few rows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"Dataset Preview:"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2: Check for missing values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nMissing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Values in Each Column:"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data.isnull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3: Encode categorical features (if any)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column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data.columns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data[column].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le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LabelEncoder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data[column]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(data[column])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label_encoders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[column] = le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B52AB5-D389-81B1-5DF9-72D11A861E43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4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C62F8-D955-1B1C-AA37-BECDECF6FA85}"/>
              </a:ext>
            </a:extLst>
          </p:cNvPr>
          <p:cNvSpPr txBox="1"/>
          <p:nvPr/>
        </p:nvSpPr>
        <p:spPr>
          <a:xfrm>
            <a:off x="1193800" y="1033974"/>
            <a:ext cx="8890000" cy="4062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4: Apply K-Means Clustering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kmeans.fit_predict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5: Display cluster centers and counts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Centers:\n"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kmeans.cluster_centers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nCluster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Counts:\n"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Step 6: Visualize clusters using PCA (2D)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PCA(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n_components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pca.fit_transform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data.drop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axis=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plt.scatter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reduced_data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c=data[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'Cluster'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viridis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'K-Means Clustering Visualization'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1'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'PCA Component 2'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43289-A4D5-61FA-326C-FAB152545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3472606"/>
            <a:ext cx="2447965" cy="1239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7411D7-9E16-B9C6-1EDA-6DE98F86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69" y="4852411"/>
            <a:ext cx="2526235" cy="20055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D350D98-F653-5CB9-3CA9-6553A1870B9C}"/>
              </a:ext>
            </a:extLst>
          </p:cNvPr>
          <p:cNvSpPr txBox="1">
            <a:spLocks/>
          </p:cNvSpPr>
          <p:nvPr/>
        </p:nvSpPr>
        <p:spPr>
          <a:xfrm>
            <a:off x="2340457" y="0"/>
            <a:ext cx="7941195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ts val="1425"/>
              </a:lnSpc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UNSUPERVISED LEARNING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9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E2E14D-DBC0-B861-10D2-711F8BB3B565}"/>
              </a:ext>
            </a:extLst>
          </p:cNvPr>
          <p:cNvSpPr txBox="1"/>
          <p:nvPr/>
        </p:nvSpPr>
        <p:spPr>
          <a:xfrm>
            <a:off x="806934" y="2019663"/>
            <a:ext cx="1041910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KNN for Credit Card Fraud Detection</a:t>
            </a:r>
          </a:p>
          <a:p>
            <a:pPr algn="ctr">
              <a:buNone/>
            </a:pPr>
            <a:endParaRPr lang="en-US" sz="2400" b="1" dirty="0"/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Set: </a:t>
            </a:r>
            <a:r>
              <a:rPr lang="en-US" dirty="0">
                <a:hlinkClick r:id="rId2"/>
              </a:rPr>
              <a:t>https://www.kaggle.com/datasets/mlg-ulb/creditcardfraud?resource=download</a:t>
            </a:r>
            <a:endParaRPr lang="en-US" dirty="0"/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KNN to detect fraudulent transactions in a highly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imbalanced dataset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where frauds make up less than 0.2% of all samples.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Load the dataset and split it into features X and target y.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SMOTE (Synthetic Minority Oversampling Technique)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ADASYN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handle class imbalance.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Scale features using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KNN classifier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k=5, then tune k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GridSearchCV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best results.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model performance using: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92840D-36F4-2009-C1F7-B11BD7700009}"/>
              </a:ext>
            </a:extLst>
          </p:cNvPr>
          <p:cNvSpPr txBox="1">
            <a:spLocks/>
          </p:cNvSpPr>
          <p:nvPr/>
        </p:nvSpPr>
        <p:spPr>
          <a:xfrm>
            <a:off x="4536026" y="785400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1</a:t>
            </a:r>
          </a:p>
        </p:txBody>
      </p:sp>
    </p:spTree>
    <p:extLst>
      <p:ext uri="{BB962C8B-B14F-4D97-AF65-F5344CB8AC3E}">
        <p14:creationId xmlns:p14="http://schemas.microsoft.com/office/powerpoint/2010/main" val="1991610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B5460-C8E1-A981-6BB4-B1D7E23F6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858" y="3170657"/>
            <a:ext cx="998228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Data Set: </a:t>
            </a:r>
            <a:r>
              <a:rPr lang="en-US" altLang="en-US" dirty="0">
                <a:latin typeface="Arial" panose="020B0604020202020204" pitchFamily="34" charset="0"/>
                <a:hlinkClick r:id="rId2"/>
              </a:rPr>
              <a:t>https://www.kaggle.com/datasets/navoneel/brain-mri-images-for-brain-tumor-detection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the dataset and preprocess all MRI images: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to grayscale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Resize to 64×64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Flatten each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 into training and testing sets (80:20).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features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StandardScaler()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(RBF kernel)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gamma='scale'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performance using accuracy, classification report, and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few test images with predicted and actual labels.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E76B8-0A7F-7659-3716-28DF100E32DE}"/>
              </a:ext>
            </a:extLst>
          </p:cNvPr>
          <p:cNvSpPr txBox="1"/>
          <p:nvPr/>
        </p:nvSpPr>
        <p:spPr>
          <a:xfrm>
            <a:off x="2931686" y="2180846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SVM for Brain Tumor Detection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266348D-3B6D-C497-6437-B2A19CAD1E30}"/>
              </a:ext>
            </a:extLst>
          </p:cNvPr>
          <p:cNvSpPr txBox="1">
            <a:spLocks/>
          </p:cNvSpPr>
          <p:nvPr/>
        </p:nvSpPr>
        <p:spPr>
          <a:xfrm>
            <a:off x="4688896" y="1043041"/>
            <a:ext cx="2960922" cy="714050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35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E09D1-0373-7B14-C466-8625DAF10545}"/>
              </a:ext>
            </a:extLst>
          </p:cNvPr>
          <p:cNvSpPr txBox="1"/>
          <p:nvPr/>
        </p:nvSpPr>
        <p:spPr>
          <a:xfrm>
            <a:off x="1172816" y="1720840"/>
            <a:ext cx="105851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Dataset: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</a:rPr>
              <a:t>Mall_Customers</a:t>
            </a:r>
            <a:endParaRPr lang="en-US" dirty="0"/>
          </a:p>
          <a:p>
            <a:pPr>
              <a:buNone/>
            </a:pPr>
            <a:r>
              <a:rPr lang="en-US" b="1" dirty="0"/>
              <a:t>Tasks: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Load the dataset and display it.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K Mean </a:t>
            </a:r>
            <a:r>
              <a:rPr lang="en-US" dirty="0"/>
              <a:t>&amp; </a:t>
            </a:r>
            <a:r>
              <a:rPr lang="en-US" b="1" dirty="0"/>
              <a:t>DBSCAN Algorithm </a:t>
            </a:r>
            <a:r>
              <a:rPr lang="en-US" dirty="0"/>
              <a:t>and plot clusters using </a:t>
            </a:r>
            <a:r>
              <a:rPr lang="en-US" i="1" dirty="0"/>
              <a:t>Annual Income</a:t>
            </a:r>
            <a:r>
              <a:rPr lang="en-US" dirty="0"/>
              <a:t> vs </a:t>
            </a:r>
            <a:r>
              <a:rPr lang="en-US" i="1" dirty="0"/>
              <a:t>Spending Score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Scale features using </a:t>
            </a:r>
            <a:r>
              <a:rPr lang="en-US" b="1" dirty="0"/>
              <a:t>StandardScaler</a:t>
            </a:r>
            <a:r>
              <a:rPr lang="en-US" dirty="0"/>
              <a:t> and re-run K-Means.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both results  did scaling change clusters?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b="1" dirty="0"/>
              <a:t>Elbow Method</a:t>
            </a:r>
            <a:r>
              <a:rPr lang="en-US" dirty="0"/>
              <a:t> to find the best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Briefly interpret each cluster.</a:t>
            </a:r>
          </a:p>
          <a:p>
            <a:pPr>
              <a:buNone/>
            </a:pPr>
            <a:r>
              <a:rPr lang="en-US" b="1" dirty="0"/>
              <a:t>Also:</a:t>
            </a:r>
            <a:br>
              <a:rPr lang="en-US" dirty="0"/>
            </a:br>
            <a:r>
              <a:rPr lang="en-US" dirty="0"/>
              <a:t>Add a fake feature 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 err="1">
                <a:latin typeface="Courier New" panose="02070309020205020404" pitchFamily="49" charset="0"/>
              </a:rPr>
              <a:t>LuckyNumber</a:t>
            </a:r>
            <a:r>
              <a:rPr lang="en-US" dirty="0">
                <a:latin typeface="Courier New" panose="02070309020205020404" pitchFamily="49" charset="0"/>
              </a:rPr>
              <a:t>"</a:t>
            </a:r>
            <a:r>
              <a:rPr lang="en-US" dirty="0"/>
              <a:t> (random 0–100) and explain its effect on clustering.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BA7213-BC6C-9F2E-CF9C-F8942E783BB6}"/>
              </a:ext>
            </a:extLst>
          </p:cNvPr>
          <p:cNvSpPr txBox="1">
            <a:spLocks/>
          </p:cNvSpPr>
          <p:nvPr/>
        </p:nvSpPr>
        <p:spPr>
          <a:xfrm>
            <a:off x="3786808" y="505793"/>
            <a:ext cx="4473887" cy="879062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7500"/>
          </a:bodyPr>
          <a:lstStyle>
            <a:defPPr>
              <a:defRPr lang="en-US"/>
            </a:defPPr>
            <a:lvl1pPr algn="ctr" defTabSz="457200">
              <a:spcBef>
                <a:spcPct val="0"/>
              </a:spcBef>
              <a:buNone/>
              <a:defRPr sz="44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806281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18179</TotalTime>
  <Words>2998</Words>
  <Application>Microsoft Office PowerPoint</Application>
  <PresentationFormat>Widescreen</PresentationFormat>
  <Paragraphs>377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Unicode MS</vt:lpstr>
      <vt:lpstr>Calibri</vt:lpstr>
      <vt:lpstr>Courier New</vt:lpstr>
      <vt:lpstr>Garamond</vt:lpstr>
      <vt:lpstr>Organic</vt:lpstr>
      <vt:lpstr>Machine Learning LAB </vt:lpstr>
      <vt:lpstr>Topics to cover</vt:lpstr>
      <vt:lpstr>KNN Algorithm</vt:lpstr>
      <vt:lpstr>KNN</vt:lpstr>
      <vt:lpstr>KNN</vt:lpstr>
      <vt:lpstr>KNN for different values</vt:lpstr>
      <vt:lpstr>KNN for different values</vt:lpstr>
      <vt:lpstr>KNN for different values</vt:lpstr>
      <vt:lpstr> Change p values</vt:lpstr>
      <vt:lpstr> Change p values</vt:lpstr>
      <vt:lpstr> Change p values</vt:lpstr>
      <vt:lpstr>SVM</vt:lpstr>
      <vt:lpstr>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Voting Classifiers</vt:lpstr>
      <vt:lpstr>Voting Classifiers</vt:lpstr>
      <vt:lpstr>Voting Classifiers</vt:lpstr>
      <vt:lpstr>Voting Classifiers</vt:lpstr>
      <vt:lpstr>PowerPoint Presentation</vt:lpstr>
      <vt:lpstr>IMPORTS AND DATA 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Preprocessing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297</cp:revision>
  <dcterms:created xsi:type="dcterms:W3CDTF">2020-04-16T04:39:44Z</dcterms:created>
  <dcterms:modified xsi:type="dcterms:W3CDTF">2026-10-02T10:54:12Z</dcterms:modified>
</cp:coreProperties>
</file>