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56" r:id="rId2"/>
    <p:sldId id="754" r:id="rId3"/>
    <p:sldId id="742" r:id="rId4"/>
    <p:sldId id="743" r:id="rId5"/>
    <p:sldId id="745" r:id="rId6"/>
    <p:sldId id="746" r:id="rId7"/>
    <p:sldId id="509" r:id="rId8"/>
    <p:sldId id="510" r:id="rId9"/>
    <p:sldId id="511" r:id="rId10"/>
    <p:sldId id="755" r:id="rId11"/>
    <p:sldId id="512" r:id="rId12"/>
    <p:sldId id="756" r:id="rId13"/>
    <p:sldId id="513" r:id="rId14"/>
    <p:sldId id="514" r:id="rId15"/>
    <p:sldId id="515" r:id="rId16"/>
    <p:sldId id="506" r:id="rId17"/>
    <p:sldId id="519" r:id="rId18"/>
    <p:sldId id="520" r:id="rId19"/>
    <p:sldId id="752" r:id="rId20"/>
    <p:sldId id="753" r:id="rId21"/>
    <p:sldId id="7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KNdgpnRz7U2JtniqEc6_A1coUbGKIt02#2" TargetMode="External"/><Relationship Id="rId7" Type="http://schemas.openxmlformats.org/officeDocument/2006/relationships/hyperlink" Target="https://colab.research.google.com/drive/1KNdgpnRz7U2JtniqEc6_A1coUbGKIt02#6" TargetMode="External"/><Relationship Id="rId2" Type="http://schemas.openxmlformats.org/officeDocument/2006/relationships/hyperlink" Target="https://colab.research.google.com/drive/1KNdgpnRz7U2JtniqEc6_A1coUbGKIt02#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drive/1KNdgpnRz7U2JtniqEc6_A1coUbGKIt02#5" TargetMode="External"/><Relationship Id="rId5" Type="http://schemas.openxmlformats.org/officeDocument/2006/relationships/hyperlink" Target="https://colab.research.google.com/drive/1KNdgpnRz7U2JtniqEc6_A1coUbGKIt02#4" TargetMode="External"/><Relationship Id="rId4" Type="http://schemas.openxmlformats.org/officeDocument/2006/relationships/hyperlink" Target="https://colab.research.google.com/drive/1KNdgpnRz7U2JtniqEc6_A1coUbGKIt02#3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lg-ulb/creditcardfraud?resource=download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avoneel/brain-mri-images-for-brain-tumor-detection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/>
              <a:t>Week 05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2329-7F44-3D4E-8659-D69072BE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B22D-516D-8E31-7B7D-5AB3AA788228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Topics to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9DCEB-BA5F-E099-15FB-513000AB8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Voting Classifier</a:t>
            </a:r>
          </a:p>
          <a:p>
            <a:r>
              <a:rPr lang="en-US" sz="3200" dirty="0"/>
              <a:t>K-mean clustering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2401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A300-2399-4B6F-8ECA-312E0B134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3" y="1378858"/>
            <a:ext cx="9741134" cy="4453772"/>
          </a:xfrm>
        </p:spPr>
        <p:txBody>
          <a:bodyPr>
            <a:noAutofit/>
          </a:bodyPr>
          <a:lstStyle/>
          <a:p>
            <a:r>
              <a:rPr lang="en-US" dirty="0"/>
              <a:t>Suppose you have trained a few classifiers, each one achieving about 80% accuracy. You may have a Logistic Regression classifier, an SVM classifier, a Random Forest classifier, a K-Nearest Neighbors classifier, and perhaps a few more</a:t>
            </a: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117C42-7EB4-45E3-9B7B-B06B8020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3" y="389035"/>
            <a:ext cx="9366325" cy="844679"/>
          </a:xfrm>
        </p:spPr>
        <p:txBody>
          <a:bodyPr>
            <a:normAutofit/>
          </a:bodyPr>
          <a:lstStyle/>
          <a:p>
            <a:r>
              <a:rPr lang="en-US" sz="4400" dirty="0"/>
              <a:t>Voting Classifiers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C583C-3BC9-4280-A880-3DCAD7F70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374" y="3313407"/>
            <a:ext cx="5681869" cy="304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5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A300-2399-4B6F-8ECA-312E0B134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3" y="1378858"/>
            <a:ext cx="9741134" cy="4453772"/>
          </a:xfrm>
        </p:spPr>
        <p:txBody>
          <a:bodyPr>
            <a:noAutofit/>
          </a:bodyPr>
          <a:lstStyle/>
          <a:p>
            <a:r>
              <a:rPr lang="en-US" dirty="0"/>
              <a:t>A very simple way to create an even better classifier is to aggregate the predictions of each classifier and predict the class that gets the most votes. This majority-vote classifier is called a </a:t>
            </a:r>
            <a:r>
              <a:rPr lang="en-US" i="1" dirty="0"/>
              <a:t>hard voting </a:t>
            </a:r>
            <a:r>
              <a:rPr lang="en-US" dirty="0"/>
              <a:t>classifier</a:t>
            </a: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117C42-7EB4-45E3-9B7B-B06B8020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3" y="389035"/>
            <a:ext cx="9366325" cy="844679"/>
          </a:xfrm>
        </p:spPr>
        <p:txBody>
          <a:bodyPr>
            <a:normAutofit/>
          </a:bodyPr>
          <a:lstStyle/>
          <a:p>
            <a:r>
              <a:rPr lang="en-US" sz="4400" dirty="0"/>
              <a:t>Voting Classifiers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A7B24-B19D-46CE-83D2-DB9AA5987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555" y="2981739"/>
            <a:ext cx="6147311" cy="331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8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A300-2399-4B6F-8ECA-312E0B134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233" y="1202114"/>
            <a:ext cx="9741134" cy="4453772"/>
          </a:xfrm>
        </p:spPr>
        <p:txBody>
          <a:bodyPr>
            <a:noAutofit/>
          </a:bodyPr>
          <a:lstStyle/>
          <a:p>
            <a:r>
              <a:rPr lang="en-US" sz="2000" dirty="0"/>
              <a:t>from </a:t>
            </a:r>
            <a:r>
              <a:rPr lang="en-US" sz="2000" dirty="0" err="1"/>
              <a:t>sklearn.ensemble</a:t>
            </a:r>
            <a:r>
              <a:rPr lang="en-US" sz="2000" dirty="0"/>
              <a:t> import </a:t>
            </a:r>
            <a:r>
              <a:rPr lang="en-US" sz="2000" dirty="0" err="1"/>
              <a:t>RandomForestClassifier</a:t>
            </a:r>
            <a:endParaRPr lang="en-US" sz="2000" dirty="0"/>
          </a:p>
          <a:p>
            <a:r>
              <a:rPr lang="en-US" sz="2000" dirty="0"/>
              <a:t>from </a:t>
            </a:r>
            <a:r>
              <a:rPr lang="en-US" sz="2000" dirty="0" err="1"/>
              <a:t>sklearn.ensemble</a:t>
            </a:r>
            <a:r>
              <a:rPr lang="en-US" sz="2000" dirty="0"/>
              <a:t> import </a:t>
            </a:r>
            <a:r>
              <a:rPr lang="en-US" sz="2000" dirty="0" err="1"/>
              <a:t>VotingClassifier</a:t>
            </a:r>
            <a:endParaRPr lang="en-US" sz="2000" dirty="0"/>
          </a:p>
          <a:p>
            <a:r>
              <a:rPr lang="en-US" sz="2000" dirty="0"/>
              <a:t>from </a:t>
            </a:r>
            <a:r>
              <a:rPr lang="en-US" sz="2000" dirty="0" err="1"/>
              <a:t>sklearn.linear_model</a:t>
            </a:r>
            <a:r>
              <a:rPr lang="en-US" sz="2000" dirty="0"/>
              <a:t> import </a:t>
            </a:r>
            <a:r>
              <a:rPr lang="en-US" sz="2000" dirty="0" err="1"/>
              <a:t>LogisticRegression</a:t>
            </a:r>
            <a:endParaRPr lang="en-US" sz="2000" dirty="0"/>
          </a:p>
          <a:p>
            <a:r>
              <a:rPr lang="en-US" sz="2000" dirty="0"/>
              <a:t>from </a:t>
            </a:r>
            <a:r>
              <a:rPr lang="en-US" sz="2000" dirty="0" err="1"/>
              <a:t>sklearn.svm</a:t>
            </a:r>
            <a:r>
              <a:rPr lang="en-US" sz="2000" dirty="0"/>
              <a:t> import SVC</a:t>
            </a:r>
          </a:p>
          <a:p>
            <a:r>
              <a:rPr lang="en-US" sz="2000" dirty="0" err="1"/>
              <a:t>log_clf</a:t>
            </a:r>
            <a:r>
              <a:rPr lang="en-US" sz="2000" dirty="0"/>
              <a:t> = </a:t>
            </a:r>
            <a:r>
              <a:rPr lang="en-US" sz="2000" dirty="0" err="1"/>
              <a:t>LogisticRegression</a:t>
            </a:r>
            <a:r>
              <a:rPr lang="en-US" sz="2000" dirty="0"/>
              <a:t>()</a:t>
            </a:r>
          </a:p>
          <a:p>
            <a:r>
              <a:rPr lang="en-US" sz="2000" dirty="0" err="1"/>
              <a:t>rnd_clf</a:t>
            </a:r>
            <a:r>
              <a:rPr lang="en-US" sz="2000" dirty="0"/>
              <a:t> = </a:t>
            </a:r>
            <a:r>
              <a:rPr lang="en-US" sz="2000" dirty="0" err="1"/>
              <a:t>RandomForestClassifier</a:t>
            </a:r>
            <a:r>
              <a:rPr lang="en-US" sz="2000" dirty="0"/>
              <a:t>()</a:t>
            </a:r>
          </a:p>
          <a:p>
            <a:r>
              <a:rPr lang="en-US" sz="2000" dirty="0" err="1"/>
              <a:t>svm_clf</a:t>
            </a:r>
            <a:r>
              <a:rPr lang="en-US" sz="2000" dirty="0"/>
              <a:t> = SVC()</a:t>
            </a:r>
          </a:p>
          <a:p>
            <a:r>
              <a:rPr lang="en-US" sz="2000" dirty="0" err="1"/>
              <a:t>voting_clf</a:t>
            </a:r>
            <a:r>
              <a:rPr lang="en-US" sz="2000" dirty="0"/>
              <a:t> = </a:t>
            </a:r>
            <a:r>
              <a:rPr lang="en-US" sz="2000" dirty="0" err="1"/>
              <a:t>VotingClassifier</a:t>
            </a:r>
            <a:r>
              <a:rPr lang="en-US" sz="2000" dirty="0"/>
              <a:t>(</a:t>
            </a:r>
          </a:p>
          <a:p>
            <a:r>
              <a:rPr lang="en-US" sz="2000" dirty="0"/>
              <a:t>estimators=[('</a:t>
            </a:r>
            <a:r>
              <a:rPr lang="en-US" sz="2000" dirty="0" err="1"/>
              <a:t>lr</a:t>
            </a:r>
            <a:r>
              <a:rPr lang="en-US" sz="2000" dirty="0"/>
              <a:t>', </a:t>
            </a:r>
            <a:r>
              <a:rPr lang="en-US" sz="2000" dirty="0" err="1"/>
              <a:t>log_clf</a:t>
            </a:r>
            <a:r>
              <a:rPr lang="en-US" sz="2000" dirty="0"/>
              <a:t>), ('rf', </a:t>
            </a:r>
            <a:r>
              <a:rPr lang="en-US" sz="2000" dirty="0" err="1"/>
              <a:t>rnd_clf</a:t>
            </a:r>
            <a:r>
              <a:rPr lang="en-US" sz="2000" dirty="0"/>
              <a:t>), ('svc', </a:t>
            </a:r>
            <a:r>
              <a:rPr lang="en-US" sz="2000" dirty="0" err="1"/>
              <a:t>svm_clf</a:t>
            </a:r>
            <a:r>
              <a:rPr lang="en-US" sz="2000" dirty="0"/>
              <a:t>)], voting='hard’ )</a:t>
            </a:r>
          </a:p>
          <a:p>
            <a:r>
              <a:rPr lang="en-US" sz="2000" dirty="0" err="1"/>
              <a:t>voting_clf.fit</a:t>
            </a:r>
            <a:r>
              <a:rPr lang="en-US" sz="2000" dirty="0"/>
              <a:t>(</a:t>
            </a:r>
            <a:r>
              <a:rPr lang="en-US" sz="2000" dirty="0" err="1"/>
              <a:t>X_train</a:t>
            </a:r>
            <a:r>
              <a:rPr lang="en-US" sz="2000" dirty="0"/>
              <a:t>, </a:t>
            </a:r>
            <a:r>
              <a:rPr lang="en-US" sz="2000" dirty="0" err="1"/>
              <a:t>y_train</a:t>
            </a:r>
            <a:r>
              <a:rPr lang="en-US" sz="2000" dirty="0"/>
              <a:t>)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voting_clf.predict</a:t>
            </a:r>
            <a:r>
              <a:rPr lang="en-US" sz="2000" dirty="0"/>
              <a:t>([</a:t>
            </a:r>
            <a:r>
              <a:rPr lang="en-US" sz="2000" dirty="0" err="1"/>
              <a:t>some_digit</a:t>
            </a:r>
            <a:r>
              <a:rPr lang="en-US" sz="2000" dirty="0"/>
              <a:t>]))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117C42-7EB4-45E3-9B7B-B06B8020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3" y="389035"/>
            <a:ext cx="9366325" cy="844679"/>
          </a:xfrm>
        </p:spPr>
        <p:txBody>
          <a:bodyPr>
            <a:normAutofit/>
          </a:bodyPr>
          <a:lstStyle/>
          <a:p>
            <a:r>
              <a:rPr lang="en-US" sz="4400" dirty="0"/>
              <a:t>Voting Classifiers</a:t>
            </a:r>
          </a:p>
        </p:txBody>
      </p:sp>
    </p:spTree>
    <p:extLst>
      <p:ext uri="{BB962C8B-B14F-4D97-AF65-F5344CB8AC3E}">
        <p14:creationId xmlns:p14="http://schemas.microsoft.com/office/powerpoint/2010/main" val="2160088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A300-2399-4B6F-8ECA-312E0B134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3" y="1378858"/>
            <a:ext cx="9741134" cy="4453772"/>
          </a:xfrm>
        </p:spPr>
        <p:txBody>
          <a:bodyPr>
            <a:noAutofit/>
          </a:bodyPr>
          <a:lstStyle/>
          <a:p>
            <a:r>
              <a:rPr lang="en-US" sz="2800" dirty="0"/>
              <a:t>from </a:t>
            </a:r>
            <a:r>
              <a:rPr lang="en-US" sz="2800" dirty="0" err="1"/>
              <a:t>sklearn.metrics</a:t>
            </a:r>
            <a:r>
              <a:rPr lang="en-US" sz="2800" dirty="0"/>
              <a:t> import </a:t>
            </a:r>
            <a:r>
              <a:rPr lang="en-US" sz="2800" dirty="0" err="1"/>
              <a:t>accuracy_score</a:t>
            </a:r>
            <a:endParaRPr lang="en-US" sz="2800" dirty="0"/>
          </a:p>
          <a:p>
            <a:r>
              <a:rPr lang="en-US" sz="2800" dirty="0"/>
              <a:t>for </a:t>
            </a:r>
            <a:r>
              <a:rPr lang="en-US" sz="2800" dirty="0" err="1"/>
              <a:t>clf</a:t>
            </a:r>
            <a:r>
              <a:rPr lang="en-US" sz="2800" dirty="0"/>
              <a:t> in (</a:t>
            </a:r>
            <a:r>
              <a:rPr lang="en-US" sz="2800" dirty="0" err="1"/>
              <a:t>log_clf</a:t>
            </a:r>
            <a:r>
              <a:rPr lang="en-US" sz="2800" dirty="0"/>
              <a:t>, </a:t>
            </a:r>
            <a:r>
              <a:rPr lang="en-US" sz="2800" dirty="0" err="1"/>
              <a:t>rnd_clf</a:t>
            </a:r>
            <a:r>
              <a:rPr lang="en-US" sz="2800" dirty="0"/>
              <a:t>, </a:t>
            </a:r>
            <a:r>
              <a:rPr lang="en-US" sz="2800" dirty="0" err="1"/>
              <a:t>svm_clf</a:t>
            </a:r>
            <a:r>
              <a:rPr lang="en-US" sz="2800" dirty="0"/>
              <a:t>, </a:t>
            </a:r>
            <a:r>
              <a:rPr lang="en-US" sz="2800" dirty="0" err="1"/>
              <a:t>voting_clf</a:t>
            </a:r>
            <a:r>
              <a:rPr lang="en-US" sz="2800" dirty="0"/>
              <a:t>):</a:t>
            </a:r>
          </a:p>
          <a:p>
            <a:r>
              <a:rPr lang="en-US" sz="2800" dirty="0"/>
              <a:t>  </a:t>
            </a:r>
            <a:r>
              <a:rPr lang="en-US" sz="2800" dirty="0" err="1"/>
              <a:t>clf.fit</a:t>
            </a:r>
            <a:r>
              <a:rPr lang="en-US" sz="2800" dirty="0"/>
              <a:t>(</a:t>
            </a:r>
            <a:r>
              <a:rPr lang="en-US" sz="2800" dirty="0" err="1"/>
              <a:t>X_train</a:t>
            </a:r>
            <a:r>
              <a:rPr lang="en-US" sz="2800" dirty="0"/>
              <a:t>, </a:t>
            </a:r>
            <a:r>
              <a:rPr lang="en-US" sz="2800" dirty="0" err="1"/>
              <a:t>y_train</a:t>
            </a:r>
            <a:r>
              <a:rPr lang="en-US" sz="2800" dirty="0"/>
              <a:t>)</a:t>
            </a:r>
          </a:p>
          <a:p>
            <a:r>
              <a:rPr lang="en-US" sz="2800" dirty="0"/>
              <a:t>  </a:t>
            </a:r>
            <a:r>
              <a:rPr lang="en-US" sz="2800" dirty="0" err="1"/>
              <a:t>y_pred</a:t>
            </a:r>
            <a:r>
              <a:rPr lang="en-US" sz="2800" dirty="0"/>
              <a:t> = </a:t>
            </a:r>
            <a:r>
              <a:rPr lang="en-US" sz="2800" dirty="0" err="1"/>
              <a:t>clf.predict</a:t>
            </a:r>
            <a:r>
              <a:rPr lang="en-US" sz="2800" dirty="0"/>
              <a:t>(</a:t>
            </a:r>
            <a:r>
              <a:rPr lang="en-US" sz="2800" dirty="0" err="1"/>
              <a:t>X_test</a:t>
            </a:r>
            <a:r>
              <a:rPr lang="en-US" sz="2800" dirty="0"/>
              <a:t>)</a:t>
            </a:r>
          </a:p>
          <a:p>
            <a:r>
              <a:rPr lang="en-US" sz="2800" dirty="0"/>
              <a:t>  print(</a:t>
            </a:r>
            <a:r>
              <a:rPr lang="en-US" sz="2800" dirty="0" err="1"/>
              <a:t>clf</a:t>
            </a:r>
            <a:r>
              <a:rPr lang="en-US" sz="2800" dirty="0"/>
              <a:t>.__</a:t>
            </a:r>
            <a:r>
              <a:rPr lang="en-US" sz="2800" dirty="0" err="1"/>
              <a:t>class__.__name</a:t>
            </a:r>
            <a:r>
              <a:rPr lang="en-US" sz="2800" dirty="0"/>
              <a:t>__, </a:t>
            </a:r>
            <a:r>
              <a:rPr lang="en-US" sz="2800" dirty="0" err="1"/>
              <a:t>accuracy_score</a:t>
            </a:r>
            <a:r>
              <a:rPr lang="en-US" sz="2800" dirty="0"/>
              <a:t>(</a:t>
            </a:r>
            <a:r>
              <a:rPr lang="en-US" sz="2800" dirty="0" err="1"/>
              <a:t>y_test</a:t>
            </a:r>
            <a:r>
              <a:rPr lang="en-US" sz="2800" dirty="0"/>
              <a:t>, </a:t>
            </a:r>
            <a:r>
              <a:rPr lang="en-US" sz="2800" dirty="0" err="1"/>
              <a:t>y_pred</a:t>
            </a:r>
            <a:r>
              <a:rPr lang="en-US" sz="2800" dirty="0"/>
              <a:t>))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117C42-7EB4-45E3-9B7B-B06B8020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3" y="389035"/>
            <a:ext cx="9366325" cy="844679"/>
          </a:xfrm>
        </p:spPr>
        <p:txBody>
          <a:bodyPr>
            <a:normAutofit/>
          </a:bodyPr>
          <a:lstStyle/>
          <a:p>
            <a:r>
              <a:rPr lang="en-US" sz="4400" dirty="0"/>
              <a:t>Voting Classifiers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4B2EB-4F4F-453F-8A72-AE860448E7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8" b="9653"/>
          <a:stretch/>
        </p:blipFill>
        <p:spPr>
          <a:xfrm>
            <a:off x="4105071" y="4564404"/>
            <a:ext cx="6591957" cy="126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504" y="1877659"/>
            <a:ext cx="10709369" cy="4144316"/>
          </a:xfrm>
        </p:spPr>
        <p:txBody>
          <a:bodyPr>
            <a:noAutofit/>
          </a:bodyPr>
          <a:lstStyle/>
          <a:p>
            <a:r>
              <a:rPr lang="en-US" dirty="0">
                <a:hlinkClick r:id="rId2"/>
              </a:rPr>
              <a:t>1 - Imports</a:t>
            </a:r>
            <a:endParaRPr lang="en-US" dirty="0"/>
          </a:p>
          <a:p>
            <a:r>
              <a:rPr lang="en-US" dirty="0">
                <a:hlinkClick r:id="rId3"/>
              </a:rPr>
              <a:t>2 - Loading the data</a:t>
            </a:r>
            <a:endParaRPr lang="en-US" dirty="0"/>
          </a:p>
          <a:p>
            <a:r>
              <a:rPr lang="en-US" dirty="0">
                <a:hlinkClick r:id="rId4"/>
              </a:rPr>
              <a:t>3 - Exploratory Analysis</a:t>
            </a:r>
            <a:endParaRPr lang="en-US" dirty="0"/>
          </a:p>
          <a:p>
            <a:r>
              <a:rPr lang="en-US" dirty="0">
                <a:hlinkClick r:id="rId5"/>
              </a:rPr>
              <a:t>4 - Preprocessing the data</a:t>
            </a:r>
            <a:endParaRPr lang="en-US" dirty="0"/>
          </a:p>
          <a:p>
            <a:r>
              <a:rPr lang="en-US" dirty="0">
                <a:hlinkClick r:id="rId6"/>
              </a:rPr>
              <a:t>5 - </a:t>
            </a:r>
            <a:r>
              <a:rPr lang="en-US" dirty="0" err="1">
                <a:hlinkClick r:id="rId6"/>
              </a:rPr>
              <a:t>Trainin</a:t>
            </a:r>
            <a:r>
              <a:rPr lang="en-US" dirty="0">
                <a:hlinkClick r:id="rId6"/>
              </a:rPr>
              <a:t> K-Means Clustering to Find Clusters</a:t>
            </a:r>
            <a:endParaRPr lang="en-US" dirty="0"/>
          </a:p>
          <a:p>
            <a:r>
              <a:rPr lang="en-US" dirty="0">
                <a:hlinkClick r:id="rId7"/>
              </a:rPr>
              <a:t>6 - Evaluating K-Means Clustering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51F1F8-B65D-5550-442C-FD52D06F6D7C}"/>
              </a:ext>
            </a:extLst>
          </p:cNvPr>
          <p:cNvSpPr txBox="1">
            <a:spLocks/>
          </p:cNvSpPr>
          <p:nvPr/>
        </p:nvSpPr>
        <p:spPr>
          <a:xfrm>
            <a:off x="2499006" y="501578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kumimoji="0" lang="en-US" sz="44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/>
                <a:ea typeface="+mj-ea"/>
                <a:cs typeface="+mj-cs"/>
              </a:rPr>
              <a:t>K-Means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19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06" y="481966"/>
            <a:ext cx="7941195" cy="100584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IMPORTS AND DATA LOADING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75717" y="1521015"/>
            <a:ext cx="10833683" cy="3886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pandas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sklearn.preprocessing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LabelEncoder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sklearn.cluster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KMeans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sklearn.decomposition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PCA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Step 1: Load the dataset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data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pd.read_csv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"/content/mushroomss.csv"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Display first few rows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"Dataset Preview:"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data.head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Step 2: Check for missing values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nMissing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Values in Each Column:"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data.isnull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().</a:t>
            </a: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40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86" y="2697891"/>
            <a:ext cx="10428514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"Dataset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shape: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mushroom_data.shape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"Target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distribution:\n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value_counts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()}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C5D31-D9C7-DAD4-DCD7-88B3F7FE0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777" y="4212634"/>
            <a:ext cx="3279823" cy="150187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7C2C543-830C-569F-ED90-794B84B31B5F}"/>
              </a:ext>
            </a:extLst>
          </p:cNvPr>
          <p:cNvSpPr txBox="1">
            <a:spLocks/>
          </p:cNvSpPr>
          <p:nvPr/>
        </p:nvSpPr>
        <p:spPr>
          <a:xfrm>
            <a:off x="2194206" y="481966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50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3BCE-2E87-467F-0749-09F30C78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29AB4-26D6-77F8-F357-6DF323A38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43" y="2529213"/>
            <a:ext cx="10834914" cy="3906454"/>
          </a:xfrm>
          <a:noFill/>
        </p:spPr>
        <p:txBody>
          <a:bodyPr wrap="square">
            <a:spAutoFit/>
          </a:bodyPr>
          <a:lstStyle/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plt.figure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figsize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=(15, 10))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(2, 3, 1)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x='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('Target Distribution')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(2, 3, 2)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x='cap-shape', hue='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('Cap Shape vs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'cap-color'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hue=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'Cap Color vs 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defTabSz="914400"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defTabSz="914400"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BD5416-13A3-B54A-1C31-FF5A631604C2}"/>
              </a:ext>
            </a:extLst>
          </p:cNvPr>
          <p:cNvSpPr txBox="1">
            <a:spLocks/>
          </p:cNvSpPr>
          <p:nvPr/>
        </p:nvSpPr>
        <p:spPr>
          <a:xfrm>
            <a:off x="2232707" y="1131145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BDD04E5-9013-CDD1-3454-D561BF93E257}"/>
              </a:ext>
            </a:extLst>
          </p:cNvPr>
          <p:cNvSpPr txBox="1"/>
          <p:nvPr/>
        </p:nvSpPr>
        <p:spPr>
          <a:xfrm>
            <a:off x="1076826" y="1199015"/>
            <a:ext cx="8902700" cy="3886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4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'population’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'Population Distribution'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5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'habitat’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'Habitat Distribution'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6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'odor'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hue=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'Odor vs 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plt.tight_layout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plt.show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930BD36-00E4-9FCC-544A-8E79280243F3}"/>
              </a:ext>
            </a:extLst>
          </p:cNvPr>
          <p:cNvSpPr txBox="1">
            <a:spLocks/>
          </p:cNvSpPr>
          <p:nvPr/>
        </p:nvSpPr>
        <p:spPr>
          <a:xfrm>
            <a:off x="3858307" y="0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1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9A36E1F-4A60-7593-350A-3DB5918DE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400" y="1253296"/>
            <a:ext cx="8429746" cy="56047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550207" y="84896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44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637" y="2151932"/>
            <a:ext cx="12750609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 Handle missing values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mushroom_data.dropna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Separate features and target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mushroom_features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mushroom_df.drop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'class'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axis=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Encode categorical features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encoder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OrdinalEncoder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mushroom_prepared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encoder.fit_transform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mushroom_features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mushroom_prep_df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pd.DataFrame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mushroom_prepared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columns=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mushroom_features.columns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3130C8-E69C-2976-EF3E-68BADB56398F}"/>
              </a:ext>
            </a:extLst>
          </p:cNvPr>
          <p:cNvSpPr txBox="1">
            <a:spLocks/>
          </p:cNvSpPr>
          <p:nvPr/>
        </p:nvSpPr>
        <p:spPr>
          <a:xfrm>
            <a:off x="2213457" y="71725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DATA PREPROCESSING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69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007" y="2556932"/>
            <a:ext cx="9601196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KMEANS CLUSTERING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Create and fit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model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k_clust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n_clusters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k_clust.fit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mushroom_prep_df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Get results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k_clust.labels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950BF59-283D-899F-AB77-02A12633EDBD}"/>
              </a:ext>
            </a:extLst>
          </p:cNvPr>
          <p:cNvSpPr txBox="1">
            <a:spLocks/>
          </p:cNvSpPr>
          <p:nvPr/>
        </p:nvSpPr>
        <p:spPr>
          <a:xfrm>
            <a:off x="2213457" y="71725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MODEL IMPLEMENTATION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0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315" y="2171920"/>
            <a:ext cx="10709369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# Map true labels to numerical values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map_dict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'e'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mushroom_labels.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map_dict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Calculate accuracy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"KMeans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Accuracy: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{accuracy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D65DD-A3E8-2BB6-775E-FCEA37D9B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30" b="97851"/>
          <a:stretch>
            <a:fillRect/>
          </a:stretch>
        </p:blipFill>
        <p:spPr>
          <a:xfrm>
            <a:off x="1117273" y="5111015"/>
            <a:ext cx="4978727" cy="37984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8F9EB84-B672-2077-FDAF-06CC40CB945C}"/>
              </a:ext>
            </a:extLst>
          </p:cNvPr>
          <p:cNvSpPr txBox="1">
            <a:spLocks/>
          </p:cNvSpPr>
          <p:nvPr/>
        </p:nvSpPr>
        <p:spPr>
          <a:xfrm>
            <a:off x="2416657" y="71119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MODEL EVALUATION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022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2" y="563032"/>
            <a:ext cx="9601196" cy="1303867"/>
          </a:xfrm>
        </p:spPr>
        <p:txBody>
          <a:bodyPr/>
          <a:lstStyle/>
          <a:p>
            <a:r>
              <a:rPr lang="en-US" dirty="0"/>
              <a:t>Preprocessing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1D97D-E70D-0A86-E91F-9E654E586F85}"/>
              </a:ext>
            </a:extLst>
          </p:cNvPr>
          <p:cNvSpPr txBox="1"/>
          <p:nvPr/>
        </p:nvSpPr>
        <p:spPr>
          <a:xfrm>
            <a:off x="971552" y="2402840"/>
            <a:ext cx="7734300" cy="3527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plt.figure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figsize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=(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cm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true_labels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k_labels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sns.heatmap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(cm,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annot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fmt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'd'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cmap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'Blues’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xticklabels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'Cluster 0'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'Cluster 1’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yticklabels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'Edible'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'Poisonous’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'Confusion Matrix'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plt.xlabel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'Predicted Clusters'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plt.ylabel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'True Labels'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Classification report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nClassification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Report:"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classification_report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true_labels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k_labels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'Edible'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'Poisonous'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]))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9055B5-116F-AE96-98ED-64C2AE6DE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6"/>
          <a:stretch>
            <a:fillRect/>
          </a:stretch>
        </p:blipFill>
        <p:spPr>
          <a:xfrm>
            <a:off x="8217773" y="2705100"/>
            <a:ext cx="3885327" cy="40513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ADD5716-7567-FC8E-A91D-89252F820F4C}"/>
              </a:ext>
            </a:extLst>
          </p:cNvPr>
          <p:cNvSpPr txBox="1">
            <a:spLocks/>
          </p:cNvSpPr>
          <p:nvPr/>
        </p:nvSpPr>
        <p:spPr>
          <a:xfrm>
            <a:off x="2416657" y="71119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Confusion matrix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785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0BF22-4151-6987-6041-2162B2D789A7}"/>
              </a:ext>
            </a:extLst>
          </p:cNvPr>
          <p:cNvSpPr txBox="1"/>
          <p:nvPr/>
        </p:nvSpPr>
        <p:spPr>
          <a:xfrm>
            <a:off x="1137202" y="996139"/>
            <a:ext cx="11054798" cy="604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LabelEncoder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sklearn.cluster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sklearn.decomposition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PCA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1: Load the dataset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"/content/mushroomss.csv"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Display first few rows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"Dataset Preview:"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data.head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2: Check for missing values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nMissing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Values in Each Column:"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data.isnull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3: Encode categorical features (if any)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label_encoders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column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data.columns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data[column].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dtype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'object'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le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LabelEncoder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data[column]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le.fit_transform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(data[column])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label_encoders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[column] = le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B52AB5-D389-81B1-5DF9-72D11A861E43}"/>
              </a:ext>
            </a:extLst>
          </p:cNvPr>
          <p:cNvSpPr txBox="1">
            <a:spLocks/>
          </p:cNvSpPr>
          <p:nvPr/>
        </p:nvSpPr>
        <p:spPr>
          <a:xfrm>
            <a:off x="2340457" y="0"/>
            <a:ext cx="7941195" cy="838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UNSUPERVISED LEARNING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34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FC62F8-D955-1B1C-AA37-BECDECF6FA85}"/>
              </a:ext>
            </a:extLst>
          </p:cNvPr>
          <p:cNvSpPr txBox="1"/>
          <p:nvPr/>
        </p:nvSpPr>
        <p:spPr>
          <a:xfrm>
            <a:off x="1193800" y="1033974"/>
            <a:ext cx="8890000" cy="4062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4: Apply K-Means Clustering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n_clusters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kmeans.fit_predict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5: Display cluster centers and counts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nCluster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Centers:\n"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kmeans.cluster_centers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nCluster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Counts:\n"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data[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6: Visualize clusters using PCA (2D)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pca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PCA(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n_components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reduced_data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pca.fit_transform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data.drop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axis=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plt.scatter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reduced_data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reduced_data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c=data[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viridis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'K-Means Clustering Visualization'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'PCA Component 1'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'PCA Component 2'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43289-A4D5-61FA-326C-FAB152545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569" y="3472606"/>
            <a:ext cx="2447965" cy="1239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7411D7-9E16-B9C6-1EDA-6DE98F86C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569" y="4852411"/>
            <a:ext cx="2526235" cy="20055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D350D98-F653-5CB9-3CA9-6553A1870B9C}"/>
              </a:ext>
            </a:extLst>
          </p:cNvPr>
          <p:cNvSpPr txBox="1">
            <a:spLocks/>
          </p:cNvSpPr>
          <p:nvPr/>
        </p:nvSpPr>
        <p:spPr>
          <a:xfrm>
            <a:off x="2340457" y="0"/>
            <a:ext cx="7941195" cy="838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UNSUPERVISED LEARNING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9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E2E14D-DBC0-B861-10D2-711F8BB3B565}"/>
              </a:ext>
            </a:extLst>
          </p:cNvPr>
          <p:cNvSpPr txBox="1"/>
          <p:nvPr/>
        </p:nvSpPr>
        <p:spPr>
          <a:xfrm>
            <a:off x="806934" y="2019663"/>
            <a:ext cx="10419106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KNN for Credit Card Fraud Detection</a:t>
            </a:r>
          </a:p>
          <a:p>
            <a:pPr algn="ctr">
              <a:buNone/>
            </a:pPr>
            <a:endParaRPr lang="en-US" sz="2400" b="1" dirty="0"/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Set: </a:t>
            </a:r>
            <a:r>
              <a:rPr lang="en-US" dirty="0">
                <a:hlinkClick r:id="rId2"/>
              </a:rPr>
              <a:t>https://www.kaggle.com/datasets/mlg-ulb/creditcardfraud?resource=download</a:t>
            </a:r>
            <a:endParaRPr lang="en-US" dirty="0"/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KNN to detect fraudulent transactions in a highly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imbalanced dataset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where frauds make up less than 0.2% of all samples.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Load the dataset and split it into features X and target y.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SMOTE (Synthetic Minority Oversampling Technique)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ADASYN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handle class imbalance.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Scale features using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KNN classifier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k=5, then tune k using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GridSearchCV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best results.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model performance using: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F1-Score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92840D-36F4-2009-C1F7-B11BD7700009}"/>
              </a:ext>
            </a:extLst>
          </p:cNvPr>
          <p:cNvSpPr txBox="1">
            <a:spLocks/>
          </p:cNvSpPr>
          <p:nvPr/>
        </p:nvSpPr>
        <p:spPr>
          <a:xfrm>
            <a:off x="4536026" y="785400"/>
            <a:ext cx="2960922" cy="714050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Activity 1</a:t>
            </a:r>
          </a:p>
        </p:txBody>
      </p:sp>
    </p:spTree>
    <p:extLst>
      <p:ext uri="{BB962C8B-B14F-4D97-AF65-F5344CB8AC3E}">
        <p14:creationId xmlns:p14="http://schemas.microsoft.com/office/powerpoint/2010/main" val="1991610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2B5460-C8E1-A981-6BB4-B1D7E23F6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858" y="3170657"/>
            <a:ext cx="998228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Data Set: </a:t>
            </a:r>
            <a:r>
              <a:rPr lang="en-US" altLang="en-US" dirty="0">
                <a:latin typeface="Arial" panose="020B0604020202020204" pitchFamily="34" charset="0"/>
                <a:hlinkClick r:id="rId2"/>
              </a:rPr>
              <a:t>https://www.kaggle.com/datasets/navoneel/brain-mri-images-for-brain-tumor-detection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the dataset and preprocess all MRI images: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to grayscale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Resize to 64×64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Flatten each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data into training and testing sets (80:20).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 features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StandardScaler()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 (RBF kernel)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gamma='scale'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performance using accuracy, classification report, and confusion matrix.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few test images with predicted and actual labels.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E76B8-0A7F-7659-3716-28DF100E32DE}"/>
              </a:ext>
            </a:extLst>
          </p:cNvPr>
          <p:cNvSpPr txBox="1"/>
          <p:nvPr/>
        </p:nvSpPr>
        <p:spPr>
          <a:xfrm>
            <a:off x="2931686" y="2180846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SVM for Brain Tumor Detection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266348D-3B6D-C497-6437-B2A19CAD1E30}"/>
              </a:ext>
            </a:extLst>
          </p:cNvPr>
          <p:cNvSpPr txBox="1">
            <a:spLocks/>
          </p:cNvSpPr>
          <p:nvPr/>
        </p:nvSpPr>
        <p:spPr>
          <a:xfrm>
            <a:off x="4688896" y="1043041"/>
            <a:ext cx="2960922" cy="714050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Activity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35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E09D1-0373-7B14-C466-8625DAF10545}"/>
              </a:ext>
            </a:extLst>
          </p:cNvPr>
          <p:cNvSpPr txBox="1"/>
          <p:nvPr/>
        </p:nvSpPr>
        <p:spPr>
          <a:xfrm>
            <a:off x="1172816" y="1720840"/>
            <a:ext cx="105851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Dataset: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</a:rPr>
              <a:t>Mall_Customers</a:t>
            </a:r>
            <a:endParaRPr lang="en-US" dirty="0"/>
          </a:p>
          <a:p>
            <a:pPr>
              <a:buNone/>
            </a:pPr>
            <a:r>
              <a:rPr lang="en-US" b="1" dirty="0"/>
              <a:t>Tasks: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Load the dataset and display it.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b="1" dirty="0"/>
              <a:t>K Mean </a:t>
            </a:r>
            <a:r>
              <a:rPr lang="en-US" dirty="0"/>
              <a:t>&amp; </a:t>
            </a:r>
            <a:r>
              <a:rPr lang="en-US" b="1" dirty="0"/>
              <a:t>DBSCAN Algorithm </a:t>
            </a:r>
            <a:r>
              <a:rPr lang="en-US" dirty="0"/>
              <a:t>and plot clusters using </a:t>
            </a:r>
            <a:r>
              <a:rPr lang="en-US" i="1" dirty="0"/>
              <a:t>Annual Income</a:t>
            </a:r>
            <a:r>
              <a:rPr lang="en-US" dirty="0"/>
              <a:t> vs </a:t>
            </a:r>
            <a:r>
              <a:rPr lang="en-US" i="1" dirty="0"/>
              <a:t>Spending Score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Scale features using </a:t>
            </a:r>
            <a:r>
              <a:rPr lang="en-US" b="1" dirty="0"/>
              <a:t>StandardScaler</a:t>
            </a:r>
            <a:r>
              <a:rPr lang="en-US" dirty="0"/>
              <a:t> and re-run K-Means.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both results  did scaling change clusters?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the </a:t>
            </a:r>
            <a:r>
              <a:rPr lang="en-US" b="1" dirty="0"/>
              <a:t>Elbow Method</a:t>
            </a:r>
            <a:r>
              <a:rPr lang="en-US" dirty="0"/>
              <a:t> to find the best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Briefly interpret each cluster.</a:t>
            </a:r>
          </a:p>
          <a:p>
            <a:pPr>
              <a:buNone/>
            </a:pPr>
            <a:r>
              <a:rPr lang="en-US" b="1" dirty="0"/>
              <a:t>Also:</a:t>
            </a:r>
            <a:br>
              <a:rPr lang="en-US" dirty="0"/>
            </a:br>
            <a:r>
              <a:rPr lang="en-US" dirty="0"/>
              <a:t>Add a fake feature </a:t>
            </a:r>
            <a:r>
              <a:rPr lang="en-US" dirty="0">
                <a:latin typeface="Courier New" panose="02070309020205020404" pitchFamily="49" charset="0"/>
              </a:rPr>
              <a:t>"</a:t>
            </a:r>
            <a:r>
              <a:rPr lang="en-US" dirty="0" err="1">
                <a:latin typeface="Courier New" panose="02070309020205020404" pitchFamily="49" charset="0"/>
              </a:rPr>
              <a:t>LuckyNumber</a:t>
            </a:r>
            <a:r>
              <a:rPr lang="en-US" dirty="0">
                <a:latin typeface="Courier New" panose="02070309020205020404" pitchFamily="49" charset="0"/>
              </a:rPr>
              <a:t>"</a:t>
            </a:r>
            <a:r>
              <a:rPr lang="en-US" dirty="0"/>
              <a:t> (random 0–100) and explain its effect on clustering.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BA7213-BC6C-9F2E-CF9C-F8942E783BB6}"/>
              </a:ext>
            </a:extLst>
          </p:cNvPr>
          <p:cNvSpPr txBox="1">
            <a:spLocks/>
          </p:cNvSpPr>
          <p:nvPr/>
        </p:nvSpPr>
        <p:spPr>
          <a:xfrm>
            <a:off x="3786808" y="505793"/>
            <a:ext cx="4473887" cy="879062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/>
          </a:bodyPr>
          <a:lstStyle>
            <a:defPPr>
              <a:defRPr lang="en-US"/>
            </a:defPPr>
            <a:lvl1pPr algn="ctr" defTabSz="457200">
              <a:spcBef>
                <a:spcPct val="0"/>
              </a:spcBef>
              <a:buNone/>
              <a:defRPr sz="44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Activity 3</a:t>
            </a:r>
          </a:p>
        </p:txBody>
      </p:sp>
    </p:spTree>
    <p:extLst>
      <p:ext uri="{BB962C8B-B14F-4D97-AF65-F5344CB8AC3E}">
        <p14:creationId xmlns:p14="http://schemas.microsoft.com/office/powerpoint/2010/main" val="8062816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18181</TotalTime>
  <Words>1648</Words>
  <Application>Microsoft Office PowerPoint</Application>
  <PresentationFormat>Widescreen</PresentationFormat>
  <Paragraphs>220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Unicode MS</vt:lpstr>
      <vt:lpstr>Calibri</vt:lpstr>
      <vt:lpstr>Courier New</vt:lpstr>
      <vt:lpstr>Garamond</vt:lpstr>
      <vt:lpstr>Organic</vt:lpstr>
      <vt:lpstr>Machine Learning LAB </vt:lpstr>
      <vt:lpstr>Topics to cover</vt:lpstr>
      <vt:lpstr>Voting Classifiers</vt:lpstr>
      <vt:lpstr>Voting Classifiers</vt:lpstr>
      <vt:lpstr>Voting Classifiers</vt:lpstr>
      <vt:lpstr>Voting Classifiers</vt:lpstr>
      <vt:lpstr>PowerPoint Presentation</vt:lpstr>
      <vt:lpstr>IMPORTS AND DATA LOADING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Preprocessing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dc:creator>Waqar Ahmad</dc:creator>
  <cp:lastModifiedBy>Kainat Abdullah</cp:lastModifiedBy>
  <cp:revision>298</cp:revision>
  <dcterms:created xsi:type="dcterms:W3CDTF">2020-04-16T04:39:44Z</dcterms:created>
  <dcterms:modified xsi:type="dcterms:W3CDTF">2026-10-07T07:30:45Z</dcterms:modified>
</cp:coreProperties>
</file>